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6" r:id="rId6"/>
    <p:sldId id="269" r:id="rId7"/>
    <p:sldId id="262" r:id="rId8"/>
    <p:sldId id="272" r:id="rId9"/>
    <p:sldId id="273" r:id="rId10"/>
    <p:sldId id="270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6941"/>
    <a:srgbClr val="ECFF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1491"/>
    <p:restoredTop sz="94610"/>
  </p:normalViewPr>
  <p:slideViewPr>
    <p:cSldViewPr snapToGrid="0" snapToObjects="1">
      <p:cViewPr>
        <p:scale>
          <a:sx n="155" d="100"/>
          <a:sy n="155" d="100"/>
        </p:scale>
        <p:origin x="141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526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463040"/>
            <a:ext cx="8979408" cy="2103120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4231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Architecture: Bronze → Silver → Gold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9260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 |  Feature Store  |  Credit Scoring</a:t>
            </a:r>
            <a:endParaRPr 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7E8F83-7BD2-4D88-91E9-863991F197E4}"/>
              </a:ext>
            </a:extLst>
          </p:cNvPr>
          <p:cNvSpPr txBox="1"/>
          <p:nvPr/>
        </p:nvSpPr>
        <p:spPr>
          <a:xfrm>
            <a:off x="365356" y="4752201"/>
            <a:ext cx="17328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Submitted by: Benny Teo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  |  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069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50292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4904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Approach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562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and Methodology Overview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069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50292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417320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14904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18562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Bronze, Silver and Gold Layer Design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468880"/>
            <a:ext cx="4069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468880"/>
            <a:ext cx="50292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468880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5420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9077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and Schema Overview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468880"/>
            <a:ext cx="4069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2468880"/>
            <a:ext cx="50292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2468880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7800" y="25420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29077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520440"/>
            <a:ext cx="4069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3520440"/>
            <a:ext cx="50292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520440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3593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Deep-Dives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9593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Steps Per Layer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520440"/>
            <a:ext cx="4069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3520440"/>
            <a:ext cx="50292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3440" y="3520440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57800" y="3593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39593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Methodology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  |  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3931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54864" cy="3337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11679"/>
            <a:ext cx="3566160" cy="2176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models require high-quality, consistently structured feature data across multiple snapshots.</a:t>
            </a:r>
          </a:p>
          <a:p>
            <a:pPr marL="342900" indent="-342900" algn="just">
              <a:buSzPct val="100000"/>
              <a:buChar char="•"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 data obtained from independent systems: financial records, customer attributes, and clickstream behavior.</a:t>
            </a:r>
          </a:p>
          <a:p>
            <a:pPr marL="342900" indent="-342900" algn="just">
              <a:buSzPct val="100000"/>
              <a:buFontTx/>
              <a:buChar char="•"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has different refresh cadences, schemas, and data quality issues that must be resolved before modelling.</a:t>
            </a:r>
            <a:endParaRPr lang="en-US" sz="1200" dirty="0"/>
          </a:p>
          <a:p>
            <a:pPr marL="342900" indent="-342900" algn="just">
              <a:buSzPct val="100000"/>
              <a:buFontTx/>
              <a:buChar char="•"/>
            </a:pPr>
            <a:endParaRPr lang="en-US" sz="1100" dirty="0"/>
          </a:p>
          <a:p>
            <a:pPr marL="342900" indent="-342900" algn="just">
              <a:buSzPct val="100000"/>
              <a:buChar char="•"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4160520" cy="333756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374904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Medallion Architecture to separate raw ingestion, cleaning, and ML-ready feature preparation.</a:t>
            </a:r>
          </a:p>
          <a:p>
            <a:pPr marL="342900" indent="-342900" algn="just">
              <a:buSzPct val="100000"/>
              <a:buChar char="•"/>
            </a:pPr>
            <a:endParaRPr lang="en-US" sz="12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just">
              <a:buSzPct val="100000"/>
              <a:buChar char="•"/>
            </a:pPr>
            <a:endParaRPr lang="en-US" sz="12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 in monthly snapshots to support point-in-time correct feature lookups for model training.</a:t>
            </a:r>
          </a:p>
          <a:p>
            <a:pPr marL="342900" indent="-342900" algn="just">
              <a:buSzPct val="100000"/>
              <a:buFontTx/>
              <a:buChar char="•"/>
            </a:pPr>
            <a:endParaRPr lang="en-US" sz="12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endParaRPr lang="en-US" sz="12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Encode, engineer and validate features at the Gold layer to produce a model-ready feature store.</a:t>
            </a:r>
            <a:endParaRPr lang="en-US" sz="1200" dirty="0"/>
          </a:p>
          <a:p>
            <a:pPr marL="342900" indent="-342900" algn="just">
              <a:buSzPct val="100000"/>
              <a:buChar char="•"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697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264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 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3000" b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3000" b="1" dirty="0">
                <a:solidFill>
                  <a:srgbClr val="ECF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3000" dirty="0">
              <a:solidFill>
                <a:srgbClr val="ECFF5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  |  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166468"/>
            <a:ext cx="2697480" cy="2267792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66468"/>
            <a:ext cx="2697480" cy="4252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664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655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Ingestion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311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5528" y="20945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from source systems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60660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5528" y="2570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snapshot date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8209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5528" y="3045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per-source CSVs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19272" y="1166468"/>
            <a:ext cx="2697480" cy="2267792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19272" y="1166468"/>
            <a:ext cx="2697480" cy="42523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19272" y="11664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56432" y="1655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Data Cleaning and Refinement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56432" y="2131120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03320" y="20945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data types &amp; schema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56432" y="2606608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03320" y="2570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dirty / noisy values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56432" y="3082096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03320" y="3045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categorical fields, e.g., removing whitespaces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27064" y="1166468"/>
            <a:ext cx="2697480" cy="2267792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27064" y="1166468"/>
            <a:ext cx="2697480" cy="425236"/>
          </a:xfrm>
          <a:prstGeom prst="rect">
            <a:avLst/>
          </a:prstGeom>
          <a:solidFill>
            <a:srgbClr val="ECFF5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27064" y="11664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364224" y="1655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BI-Ready Feature Store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364224" y="2604960"/>
            <a:ext cx="164592" cy="164592"/>
          </a:xfrm>
          <a:prstGeom prst="ellipse">
            <a:avLst/>
          </a:prstGeom>
          <a:solidFill>
            <a:srgbClr val="ECFF5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11112" y="25683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derived features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64224" y="2157668"/>
            <a:ext cx="164592" cy="164592"/>
          </a:xfrm>
          <a:prstGeom prst="ellipse">
            <a:avLst/>
          </a:prstGeom>
          <a:solidFill>
            <a:srgbClr val="ECFF5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11112" y="21210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silver tables</a:t>
            </a:r>
            <a:endParaRPr lang="en-US" sz="1050" dirty="0"/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2FF82430-1441-FA98-5D23-FF3D435963CF}"/>
              </a:ext>
            </a:extLst>
          </p:cNvPr>
          <p:cNvSpPr/>
          <p:nvPr/>
        </p:nvSpPr>
        <p:spPr>
          <a:xfrm>
            <a:off x="2971800" y="2326462"/>
            <a:ext cx="470188" cy="347472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Arrow 45">
            <a:extLst>
              <a:ext uri="{FF2B5EF4-FFF2-40B4-BE49-F238E27FC236}">
                <a16:creationId xmlns:a16="http://schemas.microsoft.com/office/drawing/2014/main" id="{E76F8C65-057B-390C-B535-F5BA2ED1C8F8}"/>
              </a:ext>
            </a:extLst>
          </p:cNvPr>
          <p:cNvSpPr/>
          <p:nvPr/>
        </p:nvSpPr>
        <p:spPr>
          <a:xfrm>
            <a:off x="5918818" y="2342282"/>
            <a:ext cx="470188" cy="347472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Shape 39">
            <a:extLst>
              <a:ext uri="{FF2B5EF4-FFF2-40B4-BE49-F238E27FC236}">
                <a16:creationId xmlns:a16="http://schemas.microsoft.com/office/drawing/2014/main" id="{F5AAB416-9D55-CA08-8C7F-A84C9C71287C}"/>
              </a:ext>
            </a:extLst>
          </p:cNvPr>
          <p:cNvSpPr/>
          <p:nvPr/>
        </p:nvSpPr>
        <p:spPr>
          <a:xfrm>
            <a:off x="6364224" y="3105381"/>
            <a:ext cx="164592" cy="164592"/>
          </a:xfrm>
          <a:prstGeom prst="ellipse">
            <a:avLst/>
          </a:prstGeom>
          <a:solidFill>
            <a:srgbClr val="ECFF5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F807D971-3756-FFF8-8939-FB204500531E}"/>
              </a:ext>
            </a:extLst>
          </p:cNvPr>
          <p:cNvSpPr/>
          <p:nvPr/>
        </p:nvSpPr>
        <p:spPr>
          <a:xfrm>
            <a:off x="6611112" y="3068805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data for ML &amp; BI use</a:t>
            </a:r>
            <a:endParaRPr lang="en-US" sz="105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9BCA162F-F670-56C2-E8FC-6C6EC11AC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089" y="3490904"/>
            <a:ext cx="6835261" cy="14625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00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Information 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  |  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199564"/>
            <a:ext cx="4069080" cy="1689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99564"/>
            <a:ext cx="164592" cy="16899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12910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Records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" y="15470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features_financials.csv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67512" y="1784780"/>
            <a:ext cx="123444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" y="17847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" y="20042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084832" y="1784780"/>
            <a:ext cx="123444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84832" y="17847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24*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84832" y="20042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67512" y="2260268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Annual_Income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67512" y="2415716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Outstanding_Debt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67512" y="2571164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Credit_Mix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67512" y="2726612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Payment_Behaviour, and 18 more columns 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63440" y="1199564"/>
            <a:ext cx="4069080" cy="1689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1199564"/>
            <a:ext cx="164592" cy="16899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9472" y="12910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Attributes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15470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features_attributes.csv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919472" y="1784780"/>
            <a:ext cx="123444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9472" y="17847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12,500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9472" y="20042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336792" y="1784780"/>
            <a:ext cx="123444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36792" y="17847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24*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36792" y="20042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919472" y="2260268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919472" y="2415716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19472" y="2571164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919472" y="2726612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11480" y="2916208"/>
            <a:ext cx="4069080" cy="1655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11480" y="2916208"/>
            <a:ext cx="164592" cy="1655792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7512" y="3007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" y="3263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feature_clickstream.csv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67512" y="3501424"/>
            <a:ext cx="123444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7512" y="35014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215,376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7512" y="37208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084832" y="3501424"/>
            <a:ext cx="123444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084832" y="35014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084832" y="37208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67512" y="3976912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Tx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fe_1 to fe_20 (20 behavioral features)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67512" y="4132360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67512" y="4287808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Snapshot_date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67512" y="4443256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663440" y="2916208"/>
            <a:ext cx="4069080" cy="1655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663440" y="2916208"/>
            <a:ext cx="164592" cy="16557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919472" y="3007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Daily loan records with labels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19472" y="3263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lms_loan_daily.csv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919472" y="3501424"/>
            <a:ext cx="123444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919472" y="35014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137,500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919472" y="37208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336792" y="3501424"/>
            <a:ext cx="123444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336792" y="35014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336792" y="37208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919472" y="3976912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loan_id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919472" y="4132360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loan_amt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919472" y="4287808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due_amt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919472" y="4443256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paid_amt, and 7 more columns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11480" y="4736592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25 snapshots in source file; 2025-01-01 excluded from pipeline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11480" y="4617720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share Customer_ID as the join key  |  snapshot_date used for temporal partitioning  |  LMS provides default labels</a:t>
            </a:r>
            <a:endParaRPr lang="en-US" sz="700" dirty="0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1ECAA433-4261-7262-6A42-BC55541450AA}"/>
              </a:ext>
            </a:extLst>
          </p:cNvPr>
          <p:cNvSpPr/>
          <p:nvPr/>
        </p:nvSpPr>
        <p:spPr>
          <a:xfrm>
            <a:off x="4919472" y="2731184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Snapshot_date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  |  6</a:t>
            </a:r>
            <a:endParaRPr lang="en-US" sz="800" dirty="0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A5B528FB-51AA-E511-D5DE-F001CF8440DF}"/>
              </a:ext>
            </a:extLst>
          </p:cNvPr>
          <p:cNvSpPr/>
          <p:nvPr/>
        </p:nvSpPr>
        <p:spPr>
          <a:xfrm>
            <a:off x="1325881" y="1261872"/>
            <a:ext cx="5631534" cy="3401568"/>
          </a:xfrm>
          <a:prstGeom prst="rect">
            <a:avLst/>
          </a:prstGeom>
          <a:solidFill>
            <a:srgbClr val="14223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C41103B3-7096-F362-D3D9-875812F4016F}"/>
              </a:ext>
            </a:extLst>
          </p:cNvPr>
          <p:cNvSpPr/>
          <p:nvPr/>
        </p:nvSpPr>
        <p:spPr>
          <a:xfrm>
            <a:off x="3368660" y="1255882"/>
            <a:ext cx="1501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Datamart</a:t>
            </a:r>
            <a:endParaRPr lang="en-US" sz="1100" dirty="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C6EBF47A-8F2E-E284-79EA-C8919A907F62}"/>
              </a:ext>
            </a:extLst>
          </p:cNvPr>
          <p:cNvSpPr/>
          <p:nvPr/>
        </p:nvSpPr>
        <p:spPr>
          <a:xfrm>
            <a:off x="1375718" y="1321875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D11C5624-2852-1DDF-35EF-D306F1CE258E}"/>
              </a:ext>
            </a:extLst>
          </p:cNvPr>
          <p:cNvSpPr/>
          <p:nvPr/>
        </p:nvSpPr>
        <p:spPr>
          <a:xfrm>
            <a:off x="1375718" y="351553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800" dirty="0"/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AA6D14F9-52DF-3977-5991-C143B2F3C73C}"/>
              </a:ext>
            </a:extLst>
          </p:cNvPr>
          <p:cNvSpPr/>
          <p:nvPr/>
        </p:nvSpPr>
        <p:spPr>
          <a:xfrm>
            <a:off x="2715768" y="1892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7" name="Text 41">
            <a:extLst>
              <a:ext uri="{FF2B5EF4-FFF2-40B4-BE49-F238E27FC236}">
                <a16:creationId xmlns:a16="http://schemas.microsoft.com/office/drawing/2014/main" id="{708E2ED7-EFBC-389A-E1DA-B9EBEC779335}"/>
              </a:ext>
            </a:extLst>
          </p:cNvPr>
          <p:cNvSpPr/>
          <p:nvPr/>
        </p:nvSpPr>
        <p:spPr>
          <a:xfrm>
            <a:off x="3639312" y="2280879"/>
            <a:ext cx="96012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83" name="Text 47">
            <a:extLst>
              <a:ext uri="{FF2B5EF4-FFF2-40B4-BE49-F238E27FC236}">
                <a16:creationId xmlns:a16="http://schemas.microsoft.com/office/drawing/2014/main" id="{3B294369-C903-5ACC-6063-B4E92349854A}"/>
              </a:ext>
            </a:extLst>
          </p:cNvPr>
          <p:cNvSpPr/>
          <p:nvPr/>
        </p:nvSpPr>
        <p:spPr>
          <a:xfrm>
            <a:off x="5568696" y="22219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3" name="Shape 77">
            <a:extLst>
              <a:ext uri="{FF2B5EF4-FFF2-40B4-BE49-F238E27FC236}">
                <a16:creationId xmlns:a16="http://schemas.microsoft.com/office/drawing/2014/main" id="{8A302568-B01F-2AC6-8456-019F75FDE7D0}"/>
              </a:ext>
            </a:extLst>
          </p:cNvPr>
          <p:cNvSpPr/>
          <p:nvPr/>
        </p:nvSpPr>
        <p:spPr>
          <a:xfrm>
            <a:off x="7918981" y="3721951"/>
            <a:ext cx="914400" cy="822960"/>
          </a:xfrm>
          <a:prstGeom prst="rect">
            <a:avLst/>
          </a:prstGeom>
          <a:solidFill>
            <a:srgbClr val="1A3066"/>
          </a:solidFill>
          <a:ln w="12700">
            <a:solidFill>
              <a:srgbClr val="0D9488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000" dirty="0"/>
          </a:p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115" name="Text 79">
            <a:extLst>
              <a:ext uri="{FF2B5EF4-FFF2-40B4-BE49-F238E27FC236}">
                <a16:creationId xmlns:a16="http://schemas.microsoft.com/office/drawing/2014/main" id="{4812700A-2970-8F12-94B3-CEA488101742}"/>
              </a:ext>
            </a:extLst>
          </p:cNvPr>
          <p:cNvSpPr/>
          <p:nvPr/>
        </p:nvSpPr>
        <p:spPr>
          <a:xfrm>
            <a:off x="1325880" y="44622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to be elaborated in subsequent slides</a:t>
            </a:r>
            <a:endParaRPr lang="en-US" sz="750" dirty="0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8AAE7A27-C63B-8B6E-6B5F-B7BE6E382E72}"/>
              </a:ext>
            </a:extLst>
          </p:cNvPr>
          <p:cNvCxnSpPr>
            <a:cxnSpLocks/>
          </p:cNvCxnSpPr>
          <p:nvPr/>
        </p:nvCxnSpPr>
        <p:spPr>
          <a:xfrm flipV="1">
            <a:off x="1143000" y="4013886"/>
            <a:ext cx="333869" cy="4213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CB43B8F2-9110-D761-8459-79B248B0903A}"/>
              </a:ext>
            </a:extLst>
          </p:cNvPr>
          <p:cNvCxnSpPr>
            <a:cxnSpLocks/>
          </p:cNvCxnSpPr>
          <p:nvPr/>
        </p:nvCxnSpPr>
        <p:spPr>
          <a:xfrm>
            <a:off x="1124562" y="2711885"/>
            <a:ext cx="351828" cy="170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7AC5DF76-9765-1B09-28EA-38F57CA9C406}"/>
              </a:ext>
            </a:extLst>
          </p:cNvPr>
          <p:cNvCxnSpPr>
            <a:cxnSpLocks/>
          </p:cNvCxnSpPr>
          <p:nvPr/>
        </p:nvCxnSpPr>
        <p:spPr>
          <a:xfrm flipV="1">
            <a:off x="1143000" y="2264796"/>
            <a:ext cx="337520" cy="3124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35F48164-5045-9A17-3982-357D47BE1302}"/>
              </a:ext>
            </a:extLst>
          </p:cNvPr>
          <p:cNvCxnSpPr>
            <a:cxnSpLocks/>
          </p:cNvCxnSpPr>
          <p:nvPr/>
        </p:nvCxnSpPr>
        <p:spPr>
          <a:xfrm>
            <a:off x="1143000" y="1810157"/>
            <a:ext cx="333868" cy="584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D1BAE14C-1817-AEA6-7912-5EB4D29B1694}"/>
              </a:ext>
            </a:extLst>
          </p:cNvPr>
          <p:cNvCxnSpPr>
            <a:cxnSpLocks/>
          </p:cNvCxnSpPr>
          <p:nvPr/>
        </p:nvCxnSpPr>
        <p:spPr>
          <a:xfrm>
            <a:off x="2080235" y="1823077"/>
            <a:ext cx="535831" cy="452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9C4BBF61-5FD6-CF15-7A79-E7CE274B69ED}"/>
              </a:ext>
            </a:extLst>
          </p:cNvPr>
          <p:cNvCxnSpPr>
            <a:cxnSpLocks/>
            <a:stCxn id="50" idx="4"/>
            <a:endCxn id="71" idx="1"/>
          </p:cNvCxnSpPr>
          <p:nvPr/>
        </p:nvCxnSpPr>
        <p:spPr>
          <a:xfrm>
            <a:off x="4400503" y="4046644"/>
            <a:ext cx="465149" cy="151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DB299B23-958D-672D-E0E2-DE926E58FC26}"/>
              </a:ext>
            </a:extLst>
          </p:cNvPr>
          <p:cNvCxnSpPr>
            <a:cxnSpLocks/>
            <a:stCxn id="49" idx="4"/>
            <a:endCxn id="86" idx="1"/>
          </p:cNvCxnSpPr>
          <p:nvPr/>
        </p:nvCxnSpPr>
        <p:spPr>
          <a:xfrm flipV="1">
            <a:off x="4400503" y="2293242"/>
            <a:ext cx="520321" cy="461165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F401DCCE-983D-93A2-F486-742A9831368E}"/>
              </a:ext>
            </a:extLst>
          </p:cNvPr>
          <p:cNvCxnSpPr>
            <a:cxnSpLocks/>
            <a:stCxn id="48" idx="4"/>
            <a:endCxn id="86" idx="1"/>
          </p:cNvCxnSpPr>
          <p:nvPr/>
        </p:nvCxnSpPr>
        <p:spPr>
          <a:xfrm flipV="1">
            <a:off x="4401319" y="2293242"/>
            <a:ext cx="519505" cy="53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FFDDDD8E-2C89-67FE-125F-87242A5BCC83}"/>
              </a:ext>
            </a:extLst>
          </p:cNvPr>
          <p:cNvCxnSpPr>
            <a:cxnSpLocks/>
            <a:stCxn id="47" idx="4"/>
            <a:endCxn id="86" idx="1"/>
          </p:cNvCxnSpPr>
          <p:nvPr/>
        </p:nvCxnSpPr>
        <p:spPr>
          <a:xfrm>
            <a:off x="4401319" y="1826380"/>
            <a:ext cx="519505" cy="46686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5DC441-CEB5-E3E8-D6AC-DF9E8C7EF4FD}"/>
              </a:ext>
            </a:extLst>
          </p:cNvPr>
          <p:cNvCxnSpPr>
            <a:cxnSpLocks/>
            <a:stCxn id="64" idx="4"/>
            <a:endCxn id="95" idx="2"/>
          </p:cNvCxnSpPr>
          <p:nvPr/>
        </p:nvCxnSpPr>
        <p:spPr>
          <a:xfrm flipV="1">
            <a:off x="6607108" y="3055792"/>
            <a:ext cx="803030" cy="995211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0803C37-8693-C4A4-6773-FC3603B43440}"/>
              </a:ext>
            </a:extLst>
          </p:cNvPr>
          <p:cNvCxnSpPr>
            <a:cxnSpLocks/>
            <a:endCxn id="95" idx="0"/>
          </p:cNvCxnSpPr>
          <p:nvPr/>
        </p:nvCxnSpPr>
        <p:spPr>
          <a:xfrm>
            <a:off x="6698489" y="2325334"/>
            <a:ext cx="711649" cy="492447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503D1BD-6517-CAF0-A4F1-617B9FFE4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62" y="1598446"/>
            <a:ext cx="250877" cy="29436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C585A87-34C9-097F-8963-C045DC8C349A}"/>
              </a:ext>
            </a:extLst>
          </p:cNvPr>
          <p:cNvSpPr txBox="1"/>
          <p:nvPr/>
        </p:nvSpPr>
        <p:spPr>
          <a:xfrm>
            <a:off x="387425" y="1673676"/>
            <a:ext cx="7889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Clickstream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A1B5474-280F-008C-AA1A-DA4BD33B9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52" y="2032888"/>
            <a:ext cx="250877" cy="29436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D4722E-E1BE-3CEF-0C26-06002C1A92DD}"/>
              </a:ext>
            </a:extLst>
          </p:cNvPr>
          <p:cNvSpPr txBox="1"/>
          <p:nvPr/>
        </p:nvSpPr>
        <p:spPr>
          <a:xfrm>
            <a:off x="426698" y="2131897"/>
            <a:ext cx="7104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Attributes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8EC8355-56E5-C1E4-DA86-E32381B6B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42" y="2489870"/>
            <a:ext cx="250877" cy="29436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9CC9FF2-DCE1-A9E4-2BD1-BF6E7039CCC9}"/>
              </a:ext>
            </a:extLst>
          </p:cNvPr>
          <p:cNvSpPr txBox="1"/>
          <p:nvPr/>
        </p:nvSpPr>
        <p:spPr>
          <a:xfrm>
            <a:off x="422679" y="2587507"/>
            <a:ext cx="6912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Financials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82D909A-7269-D587-F270-81438164D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18" y="3849793"/>
            <a:ext cx="250877" cy="29436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920F5D0-7E45-68B5-728B-AEEEC4F370E2}"/>
              </a:ext>
            </a:extLst>
          </p:cNvPr>
          <p:cNvSpPr txBox="1"/>
          <p:nvPr/>
        </p:nvSpPr>
        <p:spPr>
          <a:xfrm>
            <a:off x="439625" y="3826838"/>
            <a:ext cx="715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LMS Loan </a:t>
            </a:r>
          </a:p>
          <a:p>
            <a:r>
              <a:rPr lang="en-US" sz="1000" dirty="0">
                <a:solidFill>
                  <a:schemeClr val="bg1"/>
                </a:solidFill>
              </a:rPr>
              <a:t>Daily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F72697A-5CD0-751A-D8A6-0CBE0DB14D25}"/>
              </a:ext>
            </a:extLst>
          </p:cNvPr>
          <p:cNvCxnSpPr>
            <a:cxnSpLocks/>
          </p:cNvCxnSpPr>
          <p:nvPr/>
        </p:nvCxnSpPr>
        <p:spPr>
          <a:xfrm>
            <a:off x="1325880" y="3414839"/>
            <a:ext cx="5631534" cy="0"/>
          </a:xfrm>
          <a:prstGeom prst="line">
            <a:avLst/>
          </a:prstGeom>
          <a:solidFill>
            <a:srgbClr val="142236"/>
          </a:solidFill>
          <a:ln w="12700">
            <a:solidFill>
              <a:srgbClr val="14B8A6"/>
            </a:solidFill>
            <a:prstDash val="solid"/>
          </a:ln>
        </p:spPr>
      </p:cxnSp>
      <p:sp>
        <p:nvSpPr>
          <p:cNvPr id="31" name="Text 5">
            <a:extLst>
              <a:ext uri="{FF2B5EF4-FFF2-40B4-BE49-F238E27FC236}">
                <a16:creationId xmlns:a16="http://schemas.microsoft.com/office/drawing/2014/main" id="{58C56BD5-F02E-2E21-866E-76D8A7284F64}"/>
              </a:ext>
            </a:extLst>
          </p:cNvPr>
          <p:cNvSpPr/>
          <p:nvPr/>
        </p:nvSpPr>
        <p:spPr>
          <a:xfrm>
            <a:off x="145670" y="1312420"/>
            <a:ext cx="5503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7" name="Can 36">
            <a:extLst>
              <a:ext uri="{FF2B5EF4-FFF2-40B4-BE49-F238E27FC236}">
                <a16:creationId xmlns:a16="http://schemas.microsoft.com/office/drawing/2014/main" id="{2F374CF8-44A4-20A9-155F-DE09651DC6FE}"/>
              </a:ext>
            </a:extLst>
          </p:cNvPr>
          <p:cNvSpPr/>
          <p:nvPr/>
        </p:nvSpPr>
        <p:spPr>
          <a:xfrm>
            <a:off x="1490971" y="1626576"/>
            <a:ext cx="603330" cy="399607"/>
          </a:xfrm>
          <a:prstGeom prst="can">
            <a:avLst/>
          </a:prstGeom>
          <a:solidFill>
            <a:srgbClr val="AC694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Clickstream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(bronze)</a:t>
            </a:r>
          </a:p>
        </p:txBody>
      </p:sp>
      <p:sp>
        <p:nvSpPr>
          <p:cNvPr id="44" name="Can 43">
            <a:extLst>
              <a:ext uri="{FF2B5EF4-FFF2-40B4-BE49-F238E27FC236}">
                <a16:creationId xmlns:a16="http://schemas.microsoft.com/office/drawing/2014/main" id="{98C8676A-5B32-533E-2142-2B90CA0210B4}"/>
              </a:ext>
            </a:extLst>
          </p:cNvPr>
          <p:cNvSpPr/>
          <p:nvPr/>
        </p:nvSpPr>
        <p:spPr>
          <a:xfrm>
            <a:off x="1490971" y="2093976"/>
            <a:ext cx="603330" cy="399607"/>
          </a:xfrm>
          <a:prstGeom prst="can">
            <a:avLst/>
          </a:prstGeom>
          <a:solidFill>
            <a:srgbClr val="AC694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Attributes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(bronze)</a:t>
            </a:r>
          </a:p>
        </p:txBody>
      </p:sp>
      <p:sp>
        <p:nvSpPr>
          <p:cNvPr id="45" name="Can 44">
            <a:extLst>
              <a:ext uri="{FF2B5EF4-FFF2-40B4-BE49-F238E27FC236}">
                <a16:creationId xmlns:a16="http://schemas.microsoft.com/office/drawing/2014/main" id="{FC8BBDC8-50BC-6940-819C-7BC80E93F4ED}"/>
              </a:ext>
            </a:extLst>
          </p:cNvPr>
          <p:cNvSpPr/>
          <p:nvPr/>
        </p:nvSpPr>
        <p:spPr>
          <a:xfrm>
            <a:off x="1490155" y="2554603"/>
            <a:ext cx="603330" cy="399607"/>
          </a:xfrm>
          <a:prstGeom prst="can">
            <a:avLst/>
          </a:prstGeom>
          <a:solidFill>
            <a:srgbClr val="AC694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Financials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(bronze)</a:t>
            </a:r>
          </a:p>
        </p:txBody>
      </p:sp>
      <p:sp>
        <p:nvSpPr>
          <p:cNvPr id="46" name="Can 45">
            <a:extLst>
              <a:ext uri="{FF2B5EF4-FFF2-40B4-BE49-F238E27FC236}">
                <a16:creationId xmlns:a16="http://schemas.microsoft.com/office/drawing/2014/main" id="{3536C200-CF50-93D3-4C74-9D9CBAD35C74}"/>
              </a:ext>
            </a:extLst>
          </p:cNvPr>
          <p:cNvSpPr/>
          <p:nvPr/>
        </p:nvSpPr>
        <p:spPr>
          <a:xfrm>
            <a:off x="1476390" y="3767139"/>
            <a:ext cx="603330" cy="530352"/>
          </a:xfrm>
          <a:prstGeom prst="can">
            <a:avLst/>
          </a:prstGeom>
          <a:solidFill>
            <a:srgbClr val="AC694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LMS Loan Daily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(bronze)</a:t>
            </a:r>
          </a:p>
        </p:txBody>
      </p:sp>
      <p:sp>
        <p:nvSpPr>
          <p:cNvPr id="47" name="Can 46">
            <a:extLst>
              <a:ext uri="{FF2B5EF4-FFF2-40B4-BE49-F238E27FC236}">
                <a16:creationId xmlns:a16="http://schemas.microsoft.com/office/drawing/2014/main" id="{D9C5E38C-7496-0A73-8B1D-AB2BF66C7DDF}"/>
              </a:ext>
            </a:extLst>
          </p:cNvPr>
          <p:cNvSpPr/>
          <p:nvPr/>
        </p:nvSpPr>
        <p:spPr>
          <a:xfrm>
            <a:off x="3797989" y="1626576"/>
            <a:ext cx="603330" cy="399607"/>
          </a:xfrm>
          <a:prstGeom prst="can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Clickstream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(silver)</a:t>
            </a:r>
          </a:p>
        </p:txBody>
      </p:sp>
      <p:sp>
        <p:nvSpPr>
          <p:cNvPr id="48" name="Can 47">
            <a:extLst>
              <a:ext uri="{FF2B5EF4-FFF2-40B4-BE49-F238E27FC236}">
                <a16:creationId xmlns:a16="http://schemas.microsoft.com/office/drawing/2014/main" id="{CE0802D2-1BE5-A7F8-9CF6-554787E9A52D}"/>
              </a:ext>
            </a:extLst>
          </p:cNvPr>
          <p:cNvSpPr/>
          <p:nvPr/>
        </p:nvSpPr>
        <p:spPr>
          <a:xfrm>
            <a:off x="3797989" y="2093976"/>
            <a:ext cx="603330" cy="399607"/>
          </a:xfrm>
          <a:prstGeom prst="can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Attributes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(silver)</a:t>
            </a:r>
          </a:p>
        </p:txBody>
      </p:sp>
      <p:sp>
        <p:nvSpPr>
          <p:cNvPr id="49" name="Can 48">
            <a:extLst>
              <a:ext uri="{FF2B5EF4-FFF2-40B4-BE49-F238E27FC236}">
                <a16:creationId xmlns:a16="http://schemas.microsoft.com/office/drawing/2014/main" id="{C793662A-DFCF-B71E-CB22-6EF3A5472B27}"/>
              </a:ext>
            </a:extLst>
          </p:cNvPr>
          <p:cNvSpPr/>
          <p:nvPr/>
        </p:nvSpPr>
        <p:spPr>
          <a:xfrm>
            <a:off x="3797173" y="2554603"/>
            <a:ext cx="603330" cy="399607"/>
          </a:xfrm>
          <a:prstGeom prst="can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Financials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(silver)</a:t>
            </a:r>
          </a:p>
        </p:txBody>
      </p:sp>
      <p:sp>
        <p:nvSpPr>
          <p:cNvPr id="50" name="Can 49">
            <a:extLst>
              <a:ext uri="{FF2B5EF4-FFF2-40B4-BE49-F238E27FC236}">
                <a16:creationId xmlns:a16="http://schemas.microsoft.com/office/drawing/2014/main" id="{3A5AE4CD-EC9F-09F2-914D-516539A3D49B}"/>
              </a:ext>
            </a:extLst>
          </p:cNvPr>
          <p:cNvSpPr/>
          <p:nvPr/>
        </p:nvSpPr>
        <p:spPr>
          <a:xfrm>
            <a:off x="3797173" y="3781468"/>
            <a:ext cx="603330" cy="530352"/>
          </a:xfrm>
          <a:prstGeom prst="can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LMS Loan Daily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(silver)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BF1073B-B438-6CF8-F301-C276E80DDB49}"/>
              </a:ext>
            </a:extLst>
          </p:cNvPr>
          <p:cNvSpPr/>
          <p:nvPr/>
        </p:nvSpPr>
        <p:spPr>
          <a:xfrm>
            <a:off x="2625955" y="1705722"/>
            <a:ext cx="640380" cy="2380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ETL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A8A6BF9-02AB-9F77-A2E4-5E7C91FA4197}"/>
              </a:ext>
            </a:extLst>
          </p:cNvPr>
          <p:cNvSpPr/>
          <p:nvPr/>
        </p:nvSpPr>
        <p:spPr>
          <a:xfrm>
            <a:off x="2616262" y="2149572"/>
            <a:ext cx="640380" cy="2380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ETL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60F941C-7A46-3D76-8A3B-F6E83F1F3754}"/>
              </a:ext>
            </a:extLst>
          </p:cNvPr>
          <p:cNvSpPr/>
          <p:nvPr/>
        </p:nvSpPr>
        <p:spPr>
          <a:xfrm>
            <a:off x="2616262" y="2619147"/>
            <a:ext cx="640380" cy="2380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ETL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F151EEF-D4FE-6263-54CF-B705DE16409C}"/>
              </a:ext>
            </a:extLst>
          </p:cNvPr>
          <p:cNvSpPr/>
          <p:nvPr/>
        </p:nvSpPr>
        <p:spPr>
          <a:xfrm>
            <a:off x="2616066" y="3889962"/>
            <a:ext cx="640380" cy="2380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ETL</a:t>
            </a:r>
          </a:p>
        </p:txBody>
      </p:sp>
      <p:sp>
        <p:nvSpPr>
          <p:cNvPr id="64" name="Can 63">
            <a:extLst>
              <a:ext uri="{FF2B5EF4-FFF2-40B4-BE49-F238E27FC236}">
                <a16:creationId xmlns:a16="http://schemas.microsoft.com/office/drawing/2014/main" id="{3D9C8CAC-000D-4682-5403-934023C81066}"/>
              </a:ext>
            </a:extLst>
          </p:cNvPr>
          <p:cNvSpPr/>
          <p:nvPr/>
        </p:nvSpPr>
        <p:spPr>
          <a:xfrm>
            <a:off x="6003778" y="3690085"/>
            <a:ext cx="603330" cy="721835"/>
          </a:xfrm>
          <a:prstGeom prst="ca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Aggregated &amp; Processed Label tables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(gold)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4A0825-9258-C05D-5EC6-4198BC083D78}"/>
              </a:ext>
            </a:extLst>
          </p:cNvPr>
          <p:cNvSpPr/>
          <p:nvPr/>
        </p:nvSpPr>
        <p:spPr>
          <a:xfrm>
            <a:off x="4865652" y="3929156"/>
            <a:ext cx="640380" cy="2380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ETL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E2061AA-4B57-1A7E-F3A0-0DCAF47E38B5}"/>
              </a:ext>
            </a:extLst>
          </p:cNvPr>
          <p:cNvCxnSpPr>
            <a:cxnSpLocks/>
          </p:cNvCxnSpPr>
          <p:nvPr/>
        </p:nvCxnSpPr>
        <p:spPr>
          <a:xfrm>
            <a:off x="3261342" y="1822942"/>
            <a:ext cx="535831" cy="452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3F19D21-A3B5-46CD-B379-89F6644F1D96}"/>
              </a:ext>
            </a:extLst>
          </p:cNvPr>
          <p:cNvCxnSpPr>
            <a:cxnSpLocks/>
          </p:cNvCxnSpPr>
          <p:nvPr/>
        </p:nvCxnSpPr>
        <p:spPr>
          <a:xfrm>
            <a:off x="2087676" y="2291991"/>
            <a:ext cx="535831" cy="452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2A1D071-80FF-0422-AAD0-F266BC218B63}"/>
              </a:ext>
            </a:extLst>
          </p:cNvPr>
          <p:cNvCxnSpPr>
            <a:cxnSpLocks/>
          </p:cNvCxnSpPr>
          <p:nvPr/>
        </p:nvCxnSpPr>
        <p:spPr>
          <a:xfrm>
            <a:off x="3260691" y="2291856"/>
            <a:ext cx="535831" cy="452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8595695-AF50-BB49-7447-10C7DFD89C38}"/>
              </a:ext>
            </a:extLst>
          </p:cNvPr>
          <p:cNvCxnSpPr>
            <a:cxnSpLocks/>
          </p:cNvCxnSpPr>
          <p:nvPr/>
        </p:nvCxnSpPr>
        <p:spPr>
          <a:xfrm>
            <a:off x="2080132" y="2735092"/>
            <a:ext cx="535831" cy="452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ACA95F5-A836-4C0A-5E87-B149F9CFD3BB}"/>
              </a:ext>
            </a:extLst>
          </p:cNvPr>
          <p:cNvCxnSpPr>
            <a:cxnSpLocks/>
          </p:cNvCxnSpPr>
          <p:nvPr/>
        </p:nvCxnSpPr>
        <p:spPr>
          <a:xfrm>
            <a:off x="3261239" y="2734957"/>
            <a:ext cx="535831" cy="452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6D1BC04-D28C-0C7C-09D1-A3E4B74D63D2}"/>
              </a:ext>
            </a:extLst>
          </p:cNvPr>
          <p:cNvCxnSpPr>
            <a:cxnSpLocks/>
          </p:cNvCxnSpPr>
          <p:nvPr/>
        </p:nvCxnSpPr>
        <p:spPr>
          <a:xfrm>
            <a:off x="2079720" y="4013859"/>
            <a:ext cx="535831" cy="452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C74F682-15AC-2806-CEA8-60527389E435}"/>
              </a:ext>
            </a:extLst>
          </p:cNvPr>
          <p:cNvCxnSpPr>
            <a:cxnSpLocks/>
          </p:cNvCxnSpPr>
          <p:nvPr/>
        </p:nvCxnSpPr>
        <p:spPr>
          <a:xfrm>
            <a:off x="3260827" y="4013724"/>
            <a:ext cx="535831" cy="452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37DD11B-901E-6AE8-C6A6-A16B7C5B4372}"/>
              </a:ext>
            </a:extLst>
          </p:cNvPr>
          <p:cNvCxnSpPr>
            <a:cxnSpLocks/>
          </p:cNvCxnSpPr>
          <p:nvPr/>
        </p:nvCxnSpPr>
        <p:spPr>
          <a:xfrm>
            <a:off x="5506032" y="4045210"/>
            <a:ext cx="465149" cy="151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an 84">
            <a:extLst>
              <a:ext uri="{FF2B5EF4-FFF2-40B4-BE49-F238E27FC236}">
                <a16:creationId xmlns:a16="http://schemas.microsoft.com/office/drawing/2014/main" id="{0443F547-400B-F205-B276-134DEFA93377}"/>
              </a:ext>
            </a:extLst>
          </p:cNvPr>
          <p:cNvSpPr/>
          <p:nvPr/>
        </p:nvSpPr>
        <p:spPr>
          <a:xfrm>
            <a:off x="6058109" y="1994970"/>
            <a:ext cx="629790" cy="668963"/>
          </a:xfrm>
          <a:prstGeom prst="ca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62" name="Can 61">
            <a:extLst>
              <a:ext uri="{FF2B5EF4-FFF2-40B4-BE49-F238E27FC236}">
                <a16:creationId xmlns:a16="http://schemas.microsoft.com/office/drawing/2014/main" id="{764CB0FC-E301-0584-AB41-A268DA4393C9}"/>
              </a:ext>
            </a:extLst>
          </p:cNvPr>
          <p:cNvSpPr/>
          <p:nvPr/>
        </p:nvSpPr>
        <p:spPr>
          <a:xfrm>
            <a:off x="5971285" y="1908094"/>
            <a:ext cx="629790" cy="668963"/>
          </a:xfrm>
          <a:prstGeom prst="ca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Aggregated &amp; processed features tables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(gold)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90EE4F-8190-2C64-5FEA-57611EC16F50}"/>
              </a:ext>
            </a:extLst>
          </p:cNvPr>
          <p:cNvSpPr/>
          <p:nvPr/>
        </p:nvSpPr>
        <p:spPr>
          <a:xfrm>
            <a:off x="4920824" y="2174236"/>
            <a:ext cx="640380" cy="2380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ETL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243EF2D-24A0-0827-BA5A-4EC0F9563B64}"/>
              </a:ext>
            </a:extLst>
          </p:cNvPr>
          <p:cNvCxnSpPr>
            <a:cxnSpLocks/>
          </p:cNvCxnSpPr>
          <p:nvPr/>
        </p:nvCxnSpPr>
        <p:spPr>
          <a:xfrm>
            <a:off x="5559132" y="2292394"/>
            <a:ext cx="386726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4304EFFA-C9B8-8A37-48E2-F2A2CA8E8E93}"/>
              </a:ext>
            </a:extLst>
          </p:cNvPr>
          <p:cNvSpPr/>
          <p:nvPr/>
        </p:nvSpPr>
        <p:spPr>
          <a:xfrm>
            <a:off x="7089948" y="2817781"/>
            <a:ext cx="640380" cy="2380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ETL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F9D917F-9900-5335-6D1C-712BDBD445FD}"/>
              </a:ext>
            </a:extLst>
          </p:cNvPr>
          <p:cNvCxnSpPr>
            <a:cxnSpLocks/>
            <a:stCxn id="95" idx="3"/>
            <a:endCxn id="105" idx="2"/>
          </p:cNvCxnSpPr>
          <p:nvPr/>
        </p:nvCxnSpPr>
        <p:spPr>
          <a:xfrm flipV="1">
            <a:off x="7730328" y="2936786"/>
            <a:ext cx="334767" cy="1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n 104">
            <a:extLst>
              <a:ext uri="{FF2B5EF4-FFF2-40B4-BE49-F238E27FC236}">
                <a16:creationId xmlns:a16="http://schemas.microsoft.com/office/drawing/2014/main" id="{01664E9A-1047-7483-03AD-ABE4BFEE520D}"/>
              </a:ext>
            </a:extLst>
          </p:cNvPr>
          <p:cNvSpPr/>
          <p:nvPr/>
        </p:nvSpPr>
        <p:spPr>
          <a:xfrm>
            <a:off x="8065095" y="2575868"/>
            <a:ext cx="603330" cy="721835"/>
          </a:xfrm>
          <a:prstGeom prst="ca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Joined Features &amp; Label tables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C4B69B0-FBE8-3F99-59B9-B9EBF3915B93}"/>
              </a:ext>
            </a:extLst>
          </p:cNvPr>
          <p:cNvCxnSpPr>
            <a:cxnSpLocks/>
            <a:stCxn id="105" idx="3"/>
            <a:endCxn id="113" idx="0"/>
          </p:cNvCxnSpPr>
          <p:nvPr/>
        </p:nvCxnSpPr>
        <p:spPr>
          <a:xfrm>
            <a:off x="8366760" y="3297703"/>
            <a:ext cx="9421" cy="42424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569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DEEP-DIVE  |  BRONZE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Layer: Raw Data Ingestion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  |  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4160520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41605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533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80632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8013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198424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feature_clickstream.csv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features_attributes.csv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features_financials.csv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21208" y="2423160"/>
            <a:ext cx="39776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478024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51676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4963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67919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rows matching snapshot_date — one partition per source per month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1208" y="3118104"/>
            <a:ext cx="39776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17296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2039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1912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37413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3 CSVs per snapshot, no transformations — preserves source fidelity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1208" y="3813048"/>
            <a:ext cx="39776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386791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90665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38862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406908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bronze_table_features_{clickstream|attributes|financials}_YYYY_MM_DD.csv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1353312"/>
            <a:ext cx="3977640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1353312"/>
            <a:ext cx="3977640" cy="3291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135331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Pipeline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1783080"/>
            <a:ext cx="365760" cy="3657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180632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📥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18013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49240" y="198424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lms_loan_daily.csv containing full loan repayment history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64608" y="2423160"/>
            <a:ext cx="37947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92040" y="2478024"/>
            <a:ext cx="365760" cy="3657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92040" y="251676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24963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49240" y="267919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rows matching snapshot_date — one partition per month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64608" y="3118104"/>
            <a:ext cx="37947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92040" y="3172968"/>
            <a:ext cx="365760" cy="3657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92040" y="32194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49240" y="31912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49240" y="337413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1 CSV per snapshot, no transformations — preserves raw loan records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64608" y="3813048"/>
            <a:ext cx="37947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92040" y="3867912"/>
            <a:ext cx="365760" cy="3657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92040" y="390665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349240" y="38862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49240" y="40690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bronze_loan_daily_YYYY_MM_DD.csv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11480" y="454766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preserves raw data with no transformations — acts as the landing zone and audit trail for all source systems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DEEP-DIVE  |  SILVER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Layer: Cleaning &amp; 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  |  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96924"/>
            <a:ext cx="2029968" cy="1687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96924"/>
            <a:ext cx="2029968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29692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Types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680972"/>
            <a:ext cx="1935480" cy="121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all columns to desired numerical and categorical types</a:t>
            </a:r>
          </a:p>
          <a:p>
            <a:pPr marL="342900" indent="-342900" algn="just">
              <a:buSzPct val="100000"/>
              <a:buChar char="•"/>
            </a:pPr>
            <a:endParaRPr lang="en-US" sz="85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 algn="just">
              <a:buSzPct val="100000"/>
              <a:buChar char="•"/>
            </a:pPr>
            <a:endParaRPr lang="en-US" sz="85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r>
              <a:rPr lang="en-US" sz="8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FloatType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8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DoubleType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precision after rounding</a:t>
            </a:r>
            <a:endParaRPr lang="en-US" sz="850" dirty="0"/>
          </a:p>
          <a:p>
            <a:pPr marL="342900" indent="-342900" algn="just">
              <a:buSzPct val="100000"/>
              <a:buChar char="•"/>
            </a:pPr>
            <a:endParaRPr lang="en-US" sz="850" dirty="0"/>
          </a:p>
          <a:p>
            <a:pPr marL="342900" indent="-342900" algn="just">
              <a:buSzPct val="100000"/>
              <a:buChar char="•"/>
            </a:pPr>
            <a:endParaRPr lang="en-US" sz="850" dirty="0"/>
          </a:p>
          <a:p>
            <a:pPr marL="342900" indent="-342900" algn="just">
              <a:buSzPct val="100000"/>
              <a:buFontTx/>
              <a:buChar char="•"/>
            </a:pPr>
            <a:r>
              <a:rPr lang="en-US" sz="8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trim + lowercase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21747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87752" y="1296924"/>
            <a:ext cx="2029968" cy="1687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87752" y="1296924"/>
            <a:ext cx="2029968" cy="310896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60904" y="129692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Cleaning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79192" y="1680972"/>
            <a:ext cx="1847088" cy="1303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string ‘XX Year YY Months’ to numerical months</a:t>
            </a:r>
          </a:p>
          <a:p>
            <a:pPr marL="342900" indent="-342900" algn="just">
              <a:buSzPct val="100000"/>
              <a:buChar char="•"/>
            </a:pPr>
            <a:endParaRPr lang="en-US" sz="85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 algn="just">
              <a:buSzPct val="100000"/>
              <a:buChar char="•"/>
            </a:pPr>
            <a:endParaRPr lang="en-US" sz="85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invalid characters via regex [^0-9.\-]</a:t>
            </a:r>
          </a:p>
          <a:p>
            <a:pPr algn="just">
              <a:buSzPct val="100000"/>
            </a:pPr>
            <a:endParaRPr lang="en-US" sz="85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endParaRPr lang="en-US" sz="85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floats to 2 decimal places for standardization</a:t>
            </a:r>
            <a:endParaRPr lang="en-US" sz="850" dirty="0"/>
          </a:p>
          <a:p>
            <a:pPr marL="342900" indent="-342900" algn="just">
              <a:buSzPct val="100000"/>
              <a:buChar char="•"/>
            </a:pP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64024" y="1296924"/>
            <a:ext cx="2029968" cy="1687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64024" y="1296924"/>
            <a:ext cx="2029968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37176" y="129692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🔡 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Cleaning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55464" y="1680972"/>
            <a:ext cx="1847088" cy="1303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&amp; trim all strings by removing whitespaces</a:t>
            </a:r>
          </a:p>
          <a:p>
            <a:pPr algn="just">
              <a:buSzPct val="100000"/>
            </a:pPr>
            <a:endParaRPr lang="en-US" sz="85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 algn="just">
              <a:buSzPct val="100000"/>
              <a:buChar char="•"/>
            </a:pPr>
            <a:endParaRPr lang="en-US" sz="85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null/blank/symbols with '</a:t>
            </a:r>
            <a:r>
              <a:rPr lang="en-US" sz="8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</a:t>
            </a:r>
            <a:endParaRPr lang="en-US" sz="850" dirty="0"/>
          </a:p>
          <a:p>
            <a:pPr marL="342900" indent="-342900" algn="just">
              <a:buSzPct val="100000"/>
              <a:buChar char="•"/>
            </a:pPr>
            <a:endParaRPr lang="en-US" sz="850" dirty="0"/>
          </a:p>
          <a:p>
            <a:pPr marL="342900" indent="-342900" algn="just">
              <a:buSzPct val="100000"/>
              <a:buChar char="•"/>
            </a:pPr>
            <a:endParaRPr lang="en-US" sz="850" dirty="0"/>
          </a:p>
          <a:p>
            <a:pPr marL="342900" indent="-342900" algn="just">
              <a:buSzPct val="100000"/>
              <a:buChar char="•"/>
            </a:pPr>
            <a:r>
              <a:rPr lang="en-US" sz="850" dirty="0"/>
              <a:t>Split unstructured and composite strings into structured features</a:t>
            </a:r>
          </a:p>
        </p:txBody>
      </p:sp>
      <p:sp>
        <p:nvSpPr>
          <p:cNvPr id="23" name="Shape 21"/>
          <p:cNvSpPr/>
          <p:nvPr/>
        </p:nvSpPr>
        <p:spPr>
          <a:xfrm>
            <a:off x="6940296" y="1296924"/>
            <a:ext cx="2029968" cy="1687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40296" y="1296924"/>
            <a:ext cx="2029968" cy="3108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013448" y="129692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031736" y="1680972"/>
            <a:ext cx="1847088" cy="1303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as parquet files to ensure fast, scalable access, reproducibility and lineage tracking</a:t>
            </a:r>
            <a:endParaRPr lang="en-US" sz="850" dirty="0"/>
          </a:p>
          <a:p>
            <a:pPr marL="342900" indent="-342900" algn="just">
              <a:buSzPct val="100000"/>
              <a:buChar char="•"/>
            </a:pP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06400" y="3014980"/>
            <a:ext cx="182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Pipeline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06400" y="3200400"/>
            <a:ext cx="2032000" cy="10998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06400" y="3200400"/>
            <a:ext cx="2032000" cy="304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2600" y="3200400"/>
            <a:ext cx="187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Types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8000" y="3543300"/>
            <a:ext cx="1841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all columns to desired numerical and categorical types</a:t>
            </a:r>
          </a:p>
        </p:txBody>
      </p:sp>
      <p:sp>
        <p:nvSpPr>
          <p:cNvPr id="36" name="Shape 34"/>
          <p:cNvSpPr/>
          <p:nvPr/>
        </p:nvSpPr>
        <p:spPr>
          <a:xfrm>
            <a:off x="2590800" y="3200400"/>
            <a:ext cx="2032000" cy="10998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590800" y="3200400"/>
            <a:ext cx="2032000" cy="304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667000" y="3200400"/>
            <a:ext cx="187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Augment: MOB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679700" y="3543300"/>
            <a:ext cx="1841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Months on Book (MOB) column to track loan lifecycle age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679700" y="4013200"/>
            <a:ext cx="1841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62500" y="3200400"/>
            <a:ext cx="2032000" cy="10998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62500" y="3200400"/>
            <a:ext cx="2032000" cy="304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38700" y="3200400"/>
            <a:ext cx="187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Augment: DPD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934200" y="3200400"/>
            <a:ext cx="2032000" cy="10998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6934200" y="3200400"/>
            <a:ext cx="2032000" cy="304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010400" y="3200400"/>
            <a:ext cx="187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035800" y="3543300"/>
            <a:ext cx="1841500" cy="70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as parquet file to ensure fast, scalable access, reproducibility and lineage tracking</a:t>
            </a:r>
            <a:endParaRPr lang="en-US" sz="850" dirty="0"/>
          </a:p>
          <a:p>
            <a:pPr marL="342900" indent="-342900" algn="just">
              <a:buSzPct val="100000"/>
              <a:buChar char="•"/>
            </a:pP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06400" y="439166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decision: Tables remain separate at Silver. Tables join is performed at Gold to preserve domain independence and allow targeted reprocessing.</a:t>
            </a:r>
            <a:endParaRPr lang="en-US" sz="750" dirty="0"/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E1AC3630-C5C8-0C9B-C83C-FB40C9491343}"/>
              </a:ext>
            </a:extLst>
          </p:cNvPr>
          <p:cNvSpPr/>
          <p:nvPr/>
        </p:nvSpPr>
        <p:spPr>
          <a:xfrm>
            <a:off x="411480" y="10789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Pipeline</a:t>
            </a:r>
            <a:endParaRPr lang="en-US" sz="9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6" name="Text 37">
            <a:extLst>
              <a:ext uri="{FF2B5EF4-FFF2-40B4-BE49-F238E27FC236}">
                <a16:creationId xmlns:a16="http://schemas.microsoft.com/office/drawing/2014/main" id="{86D3AC20-BF9C-9479-8FB8-4564C11FABF5}"/>
              </a:ext>
            </a:extLst>
          </p:cNvPr>
          <p:cNvSpPr/>
          <p:nvPr/>
        </p:nvSpPr>
        <p:spPr>
          <a:xfrm>
            <a:off x="4857750" y="3543300"/>
            <a:ext cx="18415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Days Past Due (DPD) column by computing days overdue from first missed installment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174678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DEEP-DIVE  |  GOLD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Layer: ML-Ready Feature Store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  |  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06400" y="1333500"/>
            <a:ext cx="4064000" cy="327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6400" y="1333500"/>
            <a:ext cx="4064000" cy="304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6400" y="1333500"/>
            <a:ext cx="406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Tables (Gold)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6100" y="1790700"/>
            <a:ext cx="304800" cy="304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6100" y="18288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🔗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5200" y="17907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5200" y="19939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financials + attributes (all 24 snapshots) </a:t>
            </a:r>
          </a:p>
          <a:p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Full: + clickstream (18 snapshots, 2023-01 to 2024-06 only)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8000" y="2273300"/>
            <a:ext cx="38608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6100" y="2362200"/>
            <a:ext cx="304800" cy="304800"/>
          </a:xfrm>
          <a:prstGeom prst="ellipse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6100" y="24003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✂️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5200" y="23622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Clamp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5200" y="25654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noise from outliers – reduces model bias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8000" y="2844800"/>
            <a:ext cx="38608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6100" y="2921000"/>
            <a:ext cx="304800" cy="304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6100" y="29591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5200" y="29210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5200" y="31242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data to enable ML algorithm to process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8000" y="3416300"/>
            <a:ext cx="38608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6100" y="3492500"/>
            <a:ext cx="304800" cy="304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6100" y="35306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⚙️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5200" y="34925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5200" y="36957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new meaningful features, e.g. debt-to-income,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-to-salary to derive more data interpretability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8000" y="3975100"/>
            <a:ext cx="38608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6100" y="4064000"/>
            <a:ext cx="304800" cy="3048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6100" y="41021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🗑️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5200" y="40640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Prune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5200" y="42672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columns with high multicollinearity, e.g., raw columns used for new features to minimize model overfitting during training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73600" y="1333500"/>
            <a:ext cx="4064000" cy="327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73600" y="1333500"/>
            <a:ext cx="4064000" cy="304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73600" y="1333500"/>
            <a:ext cx="406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Table (Gold)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1790700"/>
            <a:ext cx="304800" cy="3048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0600" y="18288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📂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32400" y="17907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Silver LMS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32400" y="19939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silver_loan_daily_YYYY_MM_DD.parquet for the target snapshot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37100" y="2273300"/>
            <a:ext cx="39370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00600" y="2362200"/>
            <a:ext cx="304800" cy="304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00600" y="23876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32400" y="23622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at MOB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32400" y="25654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rows where mob = 6 (6 months after loan origination)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37100" y="2844800"/>
            <a:ext cx="39370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00600" y="2921000"/>
            <a:ext cx="304800" cy="3048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00600" y="29591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🏷️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232400" y="29210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Label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32400" y="31242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is_default = 1 if dpd &gt;= 30, else 0. label_def = '30dpd_6mob'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37100" y="3416300"/>
            <a:ext cx="39370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00600" y="3492500"/>
            <a:ext cx="304800" cy="3048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00600" y="35179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🔗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232400" y="34925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to Features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32400" y="36957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label store to Gold features on Customer_ID + snapshot_date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37100" y="3975100"/>
            <a:ext cx="39370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800600" y="4064000"/>
            <a:ext cx="304800" cy="3048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800600" y="40894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📤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232400" y="40640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232400" y="42672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gold_label_store_YYYY_MM_DD.parquet | loan_id, Customer_ID, label, label_def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11480" y="4648200"/>
            <a:ext cx="8321040" cy="2392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 tIns="0" bIns="0"/>
          <a:lstStyle/>
          <a:p>
            <a:pPr algn="ctr"/>
            <a:r>
              <a:rPr lang="en-US" sz="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gold_features_baseline_YYYY_MM_DD.parquet (~45 cols, 24 snapshots)  |  Full: gold_features_full_YYYY_MM_DD.parquet (~65 cols, 18 snapshots)  |  </a:t>
            </a:r>
          </a:p>
          <a:p>
            <a:pPr algn="ctr"/>
            <a:r>
              <a:rPr lang="en-US" sz="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gold_label_store_YYYY_MM_DD.parquet|  Labels: gold_label_store_YYYY_MM_DD.parquet  |  is_default (0/1)</a:t>
            </a:r>
            <a:endParaRPr lang="en-US" sz="700" dirty="0">
              <a:solidFill>
                <a:schemeClr val="bg1"/>
              </a:solidFill>
            </a:endParaRPr>
          </a:p>
          <a:p>
            <a:pPr algn="ctr"/>
            <a:endParaRPr 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47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  | 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2011680" cy="1417320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201168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1719072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source tables ingested and partitioned by snapshot_date with no transformations.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87752" y="1353312"/>
            <a:ext cx="2011680" cy="1417320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87752" y="1353312"/>
            <a:ext cx="2011680" cy="31089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87752" y="13533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1719072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cleaned &amp; refined (4 tables). LMS augmented with MOB + DPD columns.</a:t>
            </a:r>
          </a:p>
          <a:p>
            <a:pPr marL="0" indent="0" algn="just">
              <a:buNone/>
            </a:pP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64024" y="1353312"/>
            <a:ext cx="2011680" cy="1417320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64024" y="1353312"/>
            <a:ext cx="201168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64024" y="13533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1719072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tables: Baseline (all 24 snapshots, ~45 cols) and Full (18 snapshots with clickstream, ~65 cols). Both outlier-clamped, encoded and feature-engineered.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0296" y="1353312"/>
            <a:ext cx="2011680" cy="1417320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40296" y="1353312"/>
            <a:ext cx="2011680" cy="3108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40296" y="13533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50024" y="1719072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default labels derived at MOB=6, DPD&gt;=30 — binary value  ‘</a:t>
            </a:r>
            <a:r>
              <a:rPr lang="en-US" sz="90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is_default</a:t>
            </a: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label per customer per snapshot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2944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273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Train credit default prediction model on Gold feature + label store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584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Evaluate model — AUC-ROC, precision-recall, Gini coefficient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8953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Integrate pipeline with model training for automated monthly retraining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 model for real-time loan application scoring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42560" y="2880360"/>
            <a:ext cx="969264" cy="1417320"/>
          </a:xfrm>
          <a:prstGeom prst="rect">
            <a:avLst/>
          </a:prstGeom>
          <a:solidFill>
            <a:srgbClr val="1A306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42560" y="2944368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242560" y="3611880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321552" y="2880360"/>
            <a:ext cx="969264" cy="1417320"/>
          </a:xfrm>
          <a:prstGeom prst="rect">
            <a:avLst/>
          </a:prstGeom>
          <a:solidFill>
            <a:srgbClr val="1A306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21552" y="2944368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21552" y="3611880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00544" y="2880360"/>
            <a:ext cx="969264" cy="1417320"/>
          </a:xfrm>
          <a:prstGeom prst="rect">
            <a:avLst/>
          </a:prstGeom>
          <a:solidFill>
            <a:srgbClr val="1A306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00544" y="2944368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65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00544" y="3611880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/ Full cols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69762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5409CAF-DE28-254A-8F56-0D0619A22E02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69924426-11e0-4acb-ae8e-fcfd7ee2b77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1241</TotalTime>
  <Words>1363</Words>
  <Application>Microsoft Macintosh PowerPoint</Application>
  <PresentationFormat>On-screen Show (16:9)</PresentationFormat>
  <Paragraphs>289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Feature Pipeline</dc:title>
  <dc:subject>PptxGenJS Presentation</dc:subject>
  <dc:creator>PptxGenJS</dc:creator>
  <cp:lastModifiedBy>Benny TEO Kok Xin</cp:lastModifiedBy>
  <cp:revision>53</cp:revision>
  <dcterms:created xsi:type="dcterms:W3CDTF">2026-05-02T15:09:15Z</dcterms:created>
  <dcterms:modified xsi:type="dcterms:W3CDTF">2026-05-08T05:18:54Z</dcterms:modified>
</cp:coreProperties>
</file>