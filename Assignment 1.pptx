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9" r:id="rId7"/>
    <p:sldId id="262" r:id="rId8"/>
    <p:sldId id="272" r:id="rId9"/>
    <p:sldId id="273" r:id="rId10"/>
    <p:sldId id="270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F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25"/>
    <p:restoredTop sz="94610"/>
  </p:normalViewPr>
  <p:slideViewPr>
    <p:cSldViewPr snapToGrid="0" snapToObjects="1">
      <p:cViewPr>
        <p:scale>
          <a:sx n="167" d="100"/>
          <a:sy n="167" d="100"/>
        </p:scale>
        <p:origin x="264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526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463040"/>
            <a:ext cx="8979408" cy="2103120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Architecture: Bronze → Silver → Gold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 |  Feature Store  |  Credit Scoring</a:t>
            </a:r>
            <a:endParaRPr 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E8F83-7BD2-4D88-91E9-863991F197E4}"/>
              </a:ext>
            </a:extLst>
          </p:cNvPr>
          <p:cNvSpPr txBox="1"/>
          <p:nvPr/>
        </p:nvSpPr>
        <p:spPr>
          <a:xfrm>
            <a:off x="365356" y="4752201"/>
            <a:ext cx="17328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Submitted by: Benny Teo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4904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Approach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562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Methodology Overview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14904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8562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Bronze, Silver and Gold Layer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468880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468880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46888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542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907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and Schema Overview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2468880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246888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2542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2907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520440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520440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52044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593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Deep-Dives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9593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Steps Per Layer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520440"/>
            <a:ext cx="4069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3520440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352044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57800" y="3593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39593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931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54864" cy="3337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79"/>
            <a:ext cx="3566160" cy="217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models require high-quality, consistently structured feature data across multiple snapshots.</a:t>
            </a:r>
          </a:p>
          <a:p>
            <a:pPr marL="342900" indent="-342900" algn="just">
              <a:buSzPct val="100000"/>
              <a:buChar char="•"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data obtained from independent systems: financial records, customer attributes, and clickstream behavior.</a:t>
            </a:r>
          </a:p>
          <a:p>
            <a:pPr marL="342900" indent="-342900" algn="just">
              <a:buSzPct val="100000"/>
              <a:buFontTx/>
              <a:buChar char="•"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has different refresh cadences, schemas, and data quality issues that must be resolved before modelling.</a:t>
            </a:r>
            <a:endParaRPr lang="en-US" sz="1200" dirty="0"/>
          </a:p>
          <a:p>
            <a:pPr marL="342900" indent="-342900" algn="just">
              <a:buSzPct val="100000"/>
              <a:buFontTx/>
              <a:buChar char="•"/>
            </a:pPr>
            <a:endParaRPr lang="en-US" sz="1100" dirty="0"/>
          </a:p>
          <a:p>
            <a:pPr marL="342900" indent="-342900" algn="just">
              <a:buSzPct val="100000"/>
              <a:buChar char="•"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4160520" cy="333756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7490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Medallion Architecture to separate raw ingestion, cleaning, and ML-ready feature preparation.</a:t>
            </a:r>
          </a:p>
          <a:p>
            <a:pPr marL="342900" indent="-342900" algn="just">
              <a:buSzPct val="100000"/>
              <a:buChar char="•"/>
            </a:pPr>
            <a:endParaRPr lang="en-US" sz="12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buSzPct val="100000"/>
              <a:buChar char="•"/>
            </a:pPr>
            <a:endParaRPr lang="en-US" sz="12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 in monthly snapshots to support point-in-time correct feature lookups for model training.</a:t>
            </a:r>
          </a:p>
          <a:p>
            <a:pPr marL="342900" indent="-342900" algn="just">
              <a:buSzPct val="100000"/>
              <a:buFontTx/>
              <a:buChar char="•"/>
            </a:pPr>
            <a:endParaRPr lang="en-US" sz="12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endParaRPr lang="en-US" sz="12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Encode, engineer and validate features at the Gold layer to produce a model-ready feature store.</a:t>
            </a:r>
            <a:endParaRPr lang="en-US" sz="1200" dirty="0"/>
          </a:p>
          <a:p>
            <a:pPr marL="342900" indent="-342900" algn="just"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697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264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 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3000" b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3000" b="1" dirty="0">
                <a:solidFill>
                  <a:srgbClr val="ECF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3000" dirty="0">
              <a:solidFill>
                <a:srgbClr val="ECFF5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166468"/>
            <a:ext cx="2697480" cy="2267792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66468"/>
            <a:ext cx="2697480" cy="4252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664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55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Ingestion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311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5528" y="20945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from source systems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6066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5528" y="2570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snapshot date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820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" y="3045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per-source CSVs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9272" y="1166468"/>
            <a:ext cx="2697480" cy="2267792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19272" y="1166468"/>
            <a:ext cx="2697480" cy="42523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19272" y="11664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56432" y="1655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Data Cleaning and Refinement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56432" y="2131120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03320" y="20945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data types &amp; schema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56432" y="2606608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03320" y="2570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dirty / noisy values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56432" y="3082096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03320" y="3045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categorical fields, e.g., removing whitespaces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27064" y="1166468"/>
            <a:ext cx="2697480" cy="2267792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27064" y="1166468"/>
            <a:ext cx="2697480" cy="425236"/>
          </a:xfrm>
          <a:prstGeom prst="rect">
            <a:avLst/>
          </a:prstGeom>
          <a:solidFill>
            <a:srgbClr val="ECFF5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27064" y="11664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64224" y="1655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BI-Ready Feature Store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64224" y="2604960"/>
            <a:ext cx="164592" cy="164592"/>
          </a:xfrm>
          <a:prstGeom prst="ellipse">
            <a:avLst/>
          </a:prstGeom>
          <a:solidFill>
            <a:srgbClr val="ECFF5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11112" y="25683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derived features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64224" y="2157668"/>
            <a:ext cx="164592" cy="164592"/>
          </a:xfrm>
          <a:prstGeom prst="ellipse">
            <a:avLst/>
          </a:prstGeom>
          <a:solidFill>
            <a:srgbClr val="ECFF5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11112" y="21210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silver tables</a:t>
            </a:r>
            <a:endParaRPr lang="en-US" sz="1050" dirty="0"/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2FF82430-1441-FA98-5D23-FF3D435963CF}"/>
              </a:ext>
            </a:extLst>
          </p:cNvPr>
          <p:cNvSpPr/>
          <p:nvPr/>
        </p:nvSpPr>
        <p:spPr>
          <a:xfrm>
            <a:off x="2971800" y="2326462"/>
            <a:ext cx="470188" cy="347472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E76F8C65-057B-390C-B535-F5BA2ED1C8F8}"/>
              </a:ext>
            </a:extLst>
          </p:cNvPr>
          <p:cNvSpPr/>
          <p:nvPr/>
        </p:nvSpPr>
        <p:spPr>
          <a:xfrm>
            <a:off x="5918818" y="2342282"/>
            <a:ext cx="470188" cy="347472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F5AAB416-9D55-CA08-8C7F-A84C9C71287C}"/>
              </a:ext>
            </a:extLst>
          </p:cNvPr>
          <p:cNvSpPr/>
          <p:nvPr/>
        </p:nvSpPr>
        <p:spPr>
          <a:xfrm>
            <a:off x="6364224" y="3105381"/>
            <a:ext cx="164592" cy="164592"/>
          </a:xfrm>
          <a:prstGeom prst="ellipse">
            <a:avLst/>
          </a:prstGeom>
          <a:solidFill>
            <a:srgbClr val="ECFF5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F807D971-3756-FFF8-8939-FB204500531E}"/>
              </a:ext>
            </a:extLst>
          </p:cNvPr>
          <p:cNvSpPr/>
          <p:nvPr/>
        </p:nvSpPr>
        <p:spPr>
          <a:xfrm>
            <a:off x="6611112" y="3068805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data for ML &amp; BI use</a:t>
            </a:r>
            <a:endParaRPr lang="en-US" sz="10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BCA162F-F670-56C2-E8FC-6C6EC11AC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89" y="3490904"/>
            <a:ext cx="6835261" cy="1462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00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 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199564"/>
            <a:ext cx="4069080" cy="1689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99564"/>
            <a:ext cx="164592" cy="16899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2910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Records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" y="15470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features_financials.csv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67512" y="1784780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" y="17847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" y="20042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84832" y="1784780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84832" y="17847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24*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84832" y="20042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67512" y="2260268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Annual_Income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67512" y="241571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Outstanding_Debt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67512" y="2571164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Credit_Mix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67512" y="2726612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Payment_Behaviour, and 18 more columns 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63440" y="1199564"/>
            <a:ext cx="4069080" cy="1689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1199564"/>
            <a:ext cx="164592" cy="16899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12910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Attributes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15470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features_attributes.csv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919472" y="1784780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17847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20042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336792" y="1784780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36792" y="17847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24*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36792" y="20042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19472" y="2260268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19472" y="241571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19472" y="2571164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919472" y="2726612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11480" y="2916208"/>
            <a:ext cx="4069080" cy="1655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11480" y="2916208"/>
            <a:ext cx="164592" cy="1655792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7512" y="3007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" y="3263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feature_clickstream.csv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67512" y="3501424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7512" y="35014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215,376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7512" y="37208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084832" y="3501424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084832" y="35014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084832" y="37208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67512" y="3976912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Tx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fe_1 to fe_20 (20 behavioral features)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67512" y="4132360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67512" y="4287808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Snapshot_date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67512" y="444325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663440" y="2916208"/>
            <a:ext cx="4069080" cy="1655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63440" y="2916208"/>
            <a:ext cx="164592" cy="16557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19472" y="3007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Daily loan records with labels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19472" y="3263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lms_loan_daily.csv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919472" y="3501424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19472" y="35014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137,500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919472" y="37208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336792" y="3501424"/>
            <a:ext cx="123444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336792" y="35014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336792" y="37208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919472" y="3976912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919472" y="4132360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919472" y="4287808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due_amt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919472" y="444325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paid_amt, and 7 more columns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11480" y="4736592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25 snapshots in source file; 2025-01-01 excluded from pipeline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11480" y="4617720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share Customer_ID as the join key  |  snapshot_date used for temporal partitioning  |  LMS provides default labels</a:t>
            </a:r>
            <a:endParaRPr lang="en-US" sz="700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1ECAA433-4261-7262-6A42-BC55541450AA}"/>
              </a:ext>
            </a:extLst>
          </p:cNvPr>
          <p:cNvSpPr/>
          <p:nvPr/>
        </p:nvSpPr>
        <p:spPr>
          <a:xfrm>
            <a:off x="4919472" y="2731184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Snapshot_date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6</a:t>
            </a:r>
            <a:endParaRPr lang="en-US" sz="800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A5B528FB-51AA-E511-D5DE-F001CF8440DF}"/>
              </a:ext>
            </a:extLst>
          </p:cNvPr>
          <p:cNvSpPr/>
          <p:nvPr/>
        </p:nvSpPr>
        <p:spPr>
          <a:xfrm>
            <a:off x="1325880" y="1261872"/>
            <a:ext cx="6035040" cy="3401568"/>
          </a:xfrm>
          <a:prstGeom prst="rect">
            <a:avLst/>
          </a:prstGeom>
          <a:solidFill>
            <a:srgbClr val="14223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C41103B3-7096-F362-D3D9-875812F4016F}"/>
              </a:ext>
            </a:extLst>
          </p:cNvPr>
          <p:cNvSpPr/>
          <p:nvPr/>
        </p:nvSpPr>
        <p:spPr>
          <a:xfrm>
            <a:off x="3368660" y="1255882"/>
            <a:ext cx="1501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Datamart</a:t>
            </a:r>
            <a:endParaRPr lang="en-US" sz="11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C6EBF47A-8F2E-E284-79EA-C8919A907F62}"/>
              </a:ext>
            </a:extLst>
          </p:cNvPr>
          <p:cNvSpPr/>
          <p:nvPr/>
        </p:nvSpPr>
        <p:spPr>
          <a:xfrm>
            <a:off x="1375718" y="132187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D11C5624-2852-1DDF-35EF-D306F1CE258E}"/>
              </a:ext>
            </a:extLst>
          </p:cNvPr>
          <p:cNvSpPr/>
          <p:nvPr/>
        </p:nvSpPr>
        <p:spPr>
          <a:xfrm>
            <a:off x="1375718" y="351553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800" dirty="0"/>
          </a:p>
        </p:txBody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958884FD-E772-2BAD-CCF1-C5ACF747866D}"/>
              </a:ext>
            </a:extLst>
          </p:cNvPr>
          <p:cNvSpPr/>
          <p:nvPr/>
        </p:nvSpPr>
        <p:spPr>
          <a:xfrm>
            <a:off x="274320" y="1628321"/>
            <a:ext cx="868680" cy="363671"/>
          </a:xfrm>
          <a:prstGeom prst="roundRect">
            <a:avLst>
              <a:gd name="adj" fmla="val 10345"/>
            </a:avLst>
          </a:prstGeom>
          <a:solidFill>
            <a:srgbClr val="1B6CA8"/>
          </a:solidFill>
          <a:ln w="12700">
            <a:solidFill>
              <a:srgbClr val="5BB8F5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Raw Clickstream Data</a:t>
            </a:r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AA6D14F9-52DF-3977-5991-C143B2F3C73C}"/>
              </a:ext>
            </a:extLst>
          </p:cNvPr>
          <p:cNvSpPr/>
          <p:nvPr/>
        </p:nvSpPr>
        <p:spPr>
          <a:xfrm>
            <a:off x="2715768" y="1892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9" name="Shape 23">
            <a:extLst>
              <a:ext uri="{FF2B5EF4-FFF2-40B4-BE49-F238E27FC236}">
                <a16:creationId xmlns:a16="http://schemas.microsoft.com/office/drawing/2014/main" id="{FFBD8260-BF8C-613A-999A-ED47634ABFE7}"/>
              </a:ext>
            </a:extLst>
          </p:cNvPr>
          <p:cNvSpPr/>
          <p:nvPr/>
        </p:nvSpPr>
        <p:spPr>
          <a:xfrm>
            <a:off x="1476868" y="1629022"/>
            <a:ext cx="960120" cy="373965"/>
          </a:xfrm>
          <a:prstGeom prst="roundRect">
            <a:avLst>
              <a:gd name="adj" fmla="val 8333"/>
            </a:avLst>
          </a:prstGeom>
          <a:solidFill>
            <a:srgbClr val="5C4A1E"/>
          </a:solidFill>
          <a:ln w="12700">
            <a:solidFill>
              <a:srgbClr val="5C4A1E"/>
            </a:solidFill>
            <a:prstDash val="solid"/>
          </a:ln>
        </p:spPr>
        <p:txBody>
          <a:bodyPr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</a:t>
            </a:r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tables</a:t>
            </a:r>
            <a:endParaRPr lang="en-US" sz="800" dirty="0"/>
          </a:p>
        </p:txBody>
      </p:sp>
      <p:sp>
        <p:nvSpPr>
          <p:cNvPr id="77" name="Text 41">
            <a:extLst>
              <a:ext uri="{FF2B5EF4-FFF2-40B4-BE49-F238E27FC236}">
                <a16:creationId xmlns:a16="http://schemas.microsoft.com/office/drawing/2014/main" id="{708E2ED7-EFBC-389A-E1DA-B9EBEC779335}"/>
              </a:ext>
            </a:extLst>
          </p:cNvPr>
          <p:cNvSpPr/>
          <p:nvPr/>
        </p:nvSpPr>
        <p:spPr>
          <a:xfrm>
            <a:off x="3639312" y="2280879"/>
            <a:ext cx="96012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83" name="Text 47">
            <a:extLst>
              <a:ext uri="{FF2B5EF4-FFF2-40B4-BE49-F238E27FC236}">
                <a16:creationId xmlns:a16="http://schemas.microsoft.com/office/drawing/2014/main" id="{3B294369-C903-5ACC-6063-B4E92349854A}"/>
              </a:ext>
            </a:extLst>
          </p:cNvPr>
          <p:cNvSpPr/>
          <p:nvPr/>
        </p:nvSpPr>
        <p:spPr>
          <a:xfrm>
            <a:off x="5568696" y="2221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4" name="Shape 48">
            <a:extLst>
              <a:ext uri="{FF2B5EF4-FFF2-40B4-BE49-F238E27FC236}">
                <a16:creationId xmlns:a16="http://schemas.microsoft.com/office/drawing/2014/main" id="{3FDB9382-9175-B95F-6C76-C5ED38C2F1CF}"/>
              </a:ext>
            </a:extLst>
          </p:cNvPr>
          <p:cNvSpPr/>
          <p:nvPr/>
        </p:nvSpPr>
        <p:spPr>
          <a:xfrm>
            <a:off x="5971182" y="2015703"/>
            <a:ext cx="960120" cy="530352"/>
          </a:xfrm>
          <a:prstGeom prst="roundRect">
            <a:avLst>
              <a:gd name="adj" fmla="val 8333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7A5C1A"/>
            </a:solidFill>
            <a:prstDash val="solid"/>
          </a:ln>
        </p:spPr>
        <p:txBody>
          <a:bodyPr/>
          <a:lstStyle/>
          <a:p>
            <a:pPr algn="ctr"/>
            <a:r>
              <a:rPr lang="en-US" sz="900" b="1" dirty="0"/>
              <a:t>Aggregated &amp; Processed Feature tables</a:t>
            </a:r>
          </a:p>
        </p:txBody>
      </p:sp>
      <p:sp>
        <p:nvSpPr>
          <p:cNvPr id="87" name="Shape 51">
            <a:extLst>
              <a:ext uri="{FF2B5EF4-FFF2-40B4-BE49-F238E27FC236}">
                <a16:creationId xmlns:a16="http://schemas.microsoft.com/office/drawing/2014/main" id="{D77B5807-983D-585C-CDC0-4C5E780EA6D9}"/>
              </a:ext>
            </a:extLst>
          </p:cNvPr>
          <p:cNvSpPr/>
          <p:nvPr/>
        </p:nvSpPr>
        <p:spPr>
          <a:xfrm>
            <a:off x="1485900" y="3818835"/>
            <a:ext cx="960120" cy="421075"/>
          </a:xfrm>
          <a:prstGeom prst="roundRect">
            <a:avLst>
              <a:gd name="adj" fmla="val 8333"/>
            </a:avLst>
          </a:prstGeom>
          <a:solidFill>
            <a:srgbClr val="5C4A1E"/>
          </a:solidFill>
          <a:ln w="12700">
            <a:solidFill>
              <a:srgbClr val="5C4A1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Loan</a:t>
            </a:r>
            <a:endParaRPr lang="en-US" sz="800" dirty="0"/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tables</a:t>
            </a:r>
          </a:p>
        </p:txBody>
      </p:sp>
      <p:sp>
        <p:nvSpPr>
          <p:cNvPr id="113" name="Shape 77">
            <a:extLst>
              <a:ext uri="{FF2B5EF4-FFF2-40B4-BE49-F238E27FC236}">
                <a16:creationId xmlns:a16="http://schemas.microsoft.com/office/drawing/2014/main" id="{8A302568-B01F-2AC6-8456-019F75FDE7D0}"/>
              </a:ext>
            </a:extLst>
          </p:cNvPr>
          <p:cNvSpPr/>
          <p:nvPr/>
        </p:nvSpPr>
        <p:spPr>
          <a:xfrm>
            <a:off x="7699248" y="2468880"/>
            <a:ext cx="914400" cy="822960"/>
          </a:xfrm>
          <a:prstGeom prst="rect">
            <a:avLst/>
          </a:prstGeom>
          <a:solidFill>
            <a:srgbClr val="1A306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78">
            <a:extLst>
              <a:ext uri="{FF2B5EF4-FFF2-40B4-BE49-F238E27FC236}">
                <a16:creationId xmlns:a16="http://schemas.microsoft.com/office/drawing/2014/main" id="{0563F2D1-0DD7-E744-00DA-ACDB544E6198}"/>
              </a:ext>
            </a:extLst>
          </p:cNvPr>
          <p:cNvSpPr/>
          <p:nvPr/>
        </p:nvSpPr>
        <p:spPr>
          <a:xfrm>
            <a:off x="7699248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800" dirty="0"/>
          </a:p>
        </p:txBody>
      </p:sp>
      <p:sp>
        <p:nvSpPr>
          <p:cNvPr id="115" name="Text 79">
            <a:extLst>
              <a:ext uri="{FF2B5EF4-FFF2-40B4-BE49-F238E27FC236}">
                <a16:creationId xmlns:a16="http://schemas.microsoft.com/office/drawing/2014/main" id="{4812700A-2970-8F12-94B3-CEA488101742}"/>
              </a:ext>
            </a:extLst>
          </p:cNvPr>
          <p:cNvSpPr/>
          <p:nvPr/>
        </p:nvSpPr>
        <p:spPr>
          <a:xfrm>
            <a:off x="1325880" y="44622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to be elaborated in subsequent slides</a:t>
            </a:r>
            <a:endParaRPr lang="en-US" sz="750" dirty="0"/>
          </a:p>
        </p:txBody>
      </p:sp>
      <p:sp>
        <p:nvSpPr>
          <p:cNvPr id="133" name="Shape 7">
            <a:extLst>
              <a:ext uri="{FF2B5EF4-FFF2-40B4-BE49-F238E27FC236}">
                <a16:creationId xmlns:a16="http://schemas.microsoft.com/office/drawing/2014/main" id="{BD233516-7DA9-6B6A-1A06-17984680B94E}"/>
              </a:ext>
            </a:extLst>
          </p:cNvPr>
          <p:cNvSpPr/>
          <p:nvPr/>
        </p:nvSpPr>
        <p:spPr>
          <a:xfrm>
            <a:off x="274320" y="3829739"/>
            <a:ext cx="868680" cy="376719"/>
          </a:xfrm>
          <a:prstGeom prst="roundRect">
            <a:avLst>
              <a:gd name="adj" fmla="val 10345"/>
            </a:avLst>
          </a:prstGeom>
          <a:solidFill>
            <a:srgbClr val="1B6CA8"/>
          </a:solidFill>
          <a:ln w="12700">
            <a:solidFill>
              <a:srgbClr val="5BB8F5"/>
            </a:solidFill>
            <a:prstDash val="solid"/>
          </a:ln>
        </p:spPr>
        <p:txBody>
          <a:bodyPr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Raw Daily Loan Records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AAE7A27-C63B-8B6E-6B5F-B7BE6E382E72}"/>
              </a:ext>
            </a:extLst>
          </p:cNvPr>
          <p:cNvCxnSpPr>
            <a:stCxn id="133" idx="3"/>
          </p:cNvCxnSpPr>
          <p:nvPr/>
        </p:nvCxnSpPr>
        <p:spPr>
          <a:xfrm flipV="1">
            <a:off x="1143000" y="4013886"/>
            <a:ext cx="333869" cy="4213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CB43B8F2-9110-D761-8459-79B248B0903A}"/>
              </a:ext>
            </a:extLst>
          </p:cNvPr>
          <p:cNvCxnSpPr>
            <a:cxnSpLocks/>
            <a:stCxn id="195" idx="3"/>
            <a:endCxn id="138" idx="1"/>
          </p:cNvCxnSpPr>
          <p:nvPr/>
        </p:nvCxnSpPr>
        <p:spPr>
          <a:xfrm>
            <a:off x="1124562" y="2711885"/>
            <a:ext cx="351828" cy="170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Shape 23">
            <a:extLst>
              <a:ext uri="{FF2B5EF4-FFF2-40B4-BE49-F238E27FC236}">
                <a16:creationId xmlns:a16="http://schemas.microsoft.com/office/drawing/2014/main" id="{7FE8A0F2-2EB5-BAE6-4DD7-E6F46BAB61AE}"/>
              </a:ext>
            </a:extLst>
          </p:cNvPr>
          <p:cNvSpPr/>
          <p:nvPr/>
        </p:nvSpPr>
        <p:spPr>
          <a:xfrm>
            <a:off x="1480520" y="2077813"/>
            <a:ext cx="960120" cy="373965"/>
          </a:xfrm>
          <a:prstGeom prst="roundRect">
            <a:avLst>
              <a:gd name="adj" fmla="val 8333"/>
            </a:avLst>
          </a:prstGeom>
          <a:solidFill>
            <a:srgbClr val="5C4A1E"/>
          </a:solidFill>
          <a:ln w="12700">
            <a:solidFill>
              <a:srgbClr val="5C4A1E"/>
            </a:solidFill>
            <a:prstDash val="solid"/>
          </a:ln>
        </p:spPr>
        <p:txBody>
          <a:bodyPr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Attributes</a:t>
            </a:r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tables</a:t>
            </a:r>
            <a:endParaRPr lang="en-US" sz="800" dirty="0"/>
          </a:p>
        </p:txBody>
      </p:sp>
      <p:sp>
        <p:nvSpPr>
          <p:cNvPr id="138" name="Shape 23">
            <a:extLst>
              <a:ext uri="{FF2B5EF4-FFF2-40B4-BE49-F238E27FC236}">
                <a16:creationId xmlns:a16="http://schemas.microsoft.com/office/drawing/2014/main" id="{A2D24543-CC1B-07BF-D0C8-488E0FA1F7B2}"/>
              </a:ext>
            </a:extLst>
          </p:cNvPr>
          <p:cNvSpPr/>
          <p:nvPr/>
        </p:nvSpPr>
        <p:spPr>
          <a:xfrm>
            <a:off x="1476390" y="2526604"/>
            <a:ext cx="960120" cy="373965"/>
          </a:xfrm>
          <a:prstGeom prst="roundRect">
            <a:avLst>
              <a:gd name="adj" fmla="val 8333"/>
            </a:avLst>
          </a:prstGeom>
          <a:solidFill>
            <a:srgbClr val="5C4A1E"/>
          </a:solidFill>
          <a:ln w="12700">
            <a:solidFill>
              <a:srgbClr val="5C4A1E"/>
            </a:solidFill>
            <a:prstDash val="solid"/>
          </a:ln>
        </p:spPr>
        <p:txBody>
          <a:bodyPr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Financial</a:t>
            </a:r>
          </a:p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tables</a:t>
            </a:r>
            <a:endParaRPr lang="en-US" sz="8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7AC5DF76-9765-1B09-28EA-38F57CA9C406}"/>
              </a:ext>
            </a:extLst>
          </p:cNvPr>
          <p:cNvCxnSpPr>
            <a:cxnSpLocks/>
            <a:stCxn id="190" idx="3"/>
            <a:endCxn id="137" idx="1"/>
          </p:cNvCxnSpPr>
          <p:nvPr/>
        </p:nvCxnSpPr>
        <p:spPr>
          <a:xfrm flipV="1">
            <a:off x="1143000" y="2264796"/>
            <a:ext cx="337520" cy="3124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35F48164-5045-9A17-3982-357D47BE1302}"/>
              </a:ext>
            </a:extLst>
          </p:cNvPr>
          <p:cNvCxnSpPr>
            <a:cxnSpLocks/>
            <a:stCxn id="43" idx="3"/>
            <a:endCxn id="59" idx="1"/>
          </p:cNvCxnSpPr>
          <p:nvPr/>
        </p:nvCxnSpPr>
        <p:spPr>
          <a:xfrm>
            <a:off x="1143000" y="1810157"/>
            <a:ext cx="333868" cy="584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Shape 23">
            <a:extLst>
              <a:ext uri="{FF2B5EF4-FFF2-40B4-BE49-F238E27FC236}">
                <a16:creationId xmlns:a16="http://schemas.microsoft.com/office/drawing/2014/main" id="{077CC870-F893-136E-D72B-5B1F9AF62E1A}"/>
              </a:ext>
            </a:extLst>
          </p:cNvPr>
          <p:cNvSpPr/>
          <p:nvPr/>
        </p:nvSpPr>
        <p:spPr>
          <a:xfrm>
            <a:off x="3726780" y="1633454"/>
            <a:ext cx="1083452" cy="373965"/>
          </a:xfrm>
          <a:prstGeom prst="roundRect">
            <a:avLst>
              <a:gd name="adj" fmla="val 8333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5C4A1E"/>
            </a:solidFill>
            <a:prstDash val="solid"/>
          </a:ln>
        </p:spPr>
        <p:txBody>
          <a:bodyPr/>
          <a:lstStyle/>
          <a:p>
            <a:pPr algn="ctr"/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Cleaned Clickstream</a:t>
            </a:r>
          </a:p>
          <a:p>
            <a:pPr algn="ctr"/>
            <a:r>
              <a:rPr lang="en-US" sz="800" b="1" dirty="0">
                <a:latin typeface="Calibri" pitchFamily="34" charset="0"/>
                <a:cs typeface="Calibri" pitchFamily="34" charset="-120"/>
              </a:rPr>
              <a:t>tables</a:t>
            </a:r>
            <a:endParaRPr lang="en-US" sz="800" dirty="0"/>
          </a:p>
        </p:txBody>
      </p:sp>
      <p:sp>
        <p:nvSpPr>
          <p:cNvPr id="151" name="Shape 23">
            <a:extLst>
              <a:ext uri="{FF2B5EF4-FFF2-40B4-BE49-F238E27FC236}">
                <a16:creationId xmlns:a16="http://schemas.microsoft.com/office/drawing/2014/main" id="{A3D85249-8CCE-BB30-1E46-140128708FC8}"/>
              </a:ext>
            </a:extLst>
          </p:cNvPr>
          <p:cNvSpPr/>
          <p:nvPr/>
        </p:nvSpPr>
        <p:spPr>
          <a:xfrm>
            <a:off x="3726780" y="2082972"/>
            <a:ext cx="1083452" cy="373965"/>
          </a:xfrm>
          <a:prstGeom prst="roundRect">
            <a:avLst>
              <a:gd name="adj" fmla="val 8333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5C4A1E"/>
            </a:solidFill>
            <a:prstDash val="solid"/>
          </a:ln>
        </p:spPr>
        <p:txBody>
          <a:bodyPr/>
          <a:lstStyle/>
          <a:p>
            <a:pPr algn="ctr"/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Cleaned Attributes</a:t>
            </a:r>
          </a:p>
          <a:p>
            <a:pPr algn="ctr"/>
            <a:r>
              <a:rPr lang="en-US" sz="800" b="1" dirty="0">
                <a:latin typeface="Calibri" pitchFamily="34" charset="0"/>
                <a:cs typeface="Calibri" pitchFamily="34" charset="-120"/>
              </a:rPr>
              <a:t>tables</a:t>
            </a:r>
            <a:endParaRPr lang="en-US" sz="800" dirty="0"/>
          </a:p>
        </p:txBody>
      </p:sp>
      <p:sp>
        <p:nvSpPr>
          <p:cNvPr id="152" name="Shape 23">
            <a:extLst>
              <a:ext uri="{FF2B5EF4-FFF2-40B4-BE49-F238E27FC236}">
                <a16:creationId xmlns:a16="http://schemas.microsoft.com/office/drawing/2014/main" id="{DC543961-DD4D-EEB8-23B6-20C3F26FFC61}"/>
              </a:ext>
            </a:extLst>
          </p:cNvPr>
          <p:cNvSpPr/>
          <p:nvPr/>
        </p:nvSpPr>
        <p:spPr>
          <a:xfrm>
            <a:off x="3719904" y="2531867"/>
            <a:ext cx="1083452" cy="373965"/>
          </a:xfrm>
          <a:prstGeom prst="roundRect">
            <a:avLst>
              <a:gd name="adj" fmla="val 8333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5C4A1E"/>
            </a:solidFill>
            <a:prstDash val="solid"/>
          </a:ln>
        </p:spPr>
        <p:txBody>
          <a:bodyPr/>
          <a:lstStyle/>
          <a:p>
            <a:pPr algn="ctr"/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Cleaned Financial</a:t>
            </a:r>
          </a:p>
          <a:p>
            <a:pPr algn="ctr"/>
            <a:r>
              <a:rPr lang="en-US" sz="800" b="1" dirty="0">
                <a:latin typeface="Calibri" pitchFamily="34" charset="0"/>
                <a:cs typeface="Calibri" pitchFamily="34" charset="-120"/>
              </a:rPr>
              <a:t>tables</a:t>
            </a:r>
            <a:endParaRPr lang="en-US" sz="800" dirty="0"/>
          </a:p>
        </p:txBody>
      </p:sp>
      <p:sp>
        <p:nvSpPr>
          <p:cNvPr id="153" name="Shape 48">
            <a:extLst>
              <a:ext uri="{FF2B5EF4-FFF2-40B4-BE49-F238E27FC236}">
                <a16:creationId xmlns:a16="http://schemas.microsoft.com/office/drawing/2014/main" id="{6435DA8C-A52C-8637-9749-E66E23C2AAF6}"/>
              </a:ext>
            </a:extLst>
          </p:cNvPr>
          <p:cNvSpPr/>
          <p:nvPr/>
        </p:nvSpPr>
        <p:spPr>
          <a:xfrm>
            <a:off x="5977215" y="3774789"/>
            <a:ext cx="960120" cy="530352"/>
          </a:xfrm>
          <a:prstGeom prst="roundRect">
            <a:avLst>
              <a:gd name="adj" fmla="val 8333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7A5C1A"/>
            </a:solidFill>
            <a:prstDash val="solid"/>
          </a:ln>
        </p:spPr>
        <p:txBody>
          <a:bodyPr/>
          <a:lstStyle/>
          <a:p>
            <a:pPr algn="ctr"/>
            <a:r>
              <a:rPr lang="en-US" sz="900" b="1" dirty="0"/>
              <a:t>Aggregated &amp; Processed Label tables</a:t>
            </a:r>
          </a:p>
        </p:txBody>
      </p:sp>
      <p:sp>
        <p:nvSpPr>
          <p:cNvPr id="154" name="Shape 23">
            <a:extLst>
              <a:ext uri="{FF2B5EF4-FFF2-40B4-BE49-F238E27FC236}">
                <a16:creationId xmlns:a16="http://schemas.microsoft.com/office/drawing/2014/main" id="{089962E5-AD46-C528-1168-FD35D0BB2335}"/>
              </a:ext>
            </a:extLst>
          </p:cNvPr>
          <p:cNvSpPr/>
          <p:nvPr/>
        </p:nvSpPr>
        <p:spPr>
          <a:xfrm>
            <a:off x="3726780" y="3852983"/>
            <a:ext cx="1083452" cy="373965"/>
          </a:xfrm>
          <a:prstGeom prst="roundRect">
            <a:avLst>
              <a:gd name="adj" fmla="val 8333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5C4A1E"/>
            </a:solidFill>
            <a:prstDash val="solid"/>
          </a:ln>
        </p:spPr>
        <p:txBody>
          <a:bodyPr/>
          <a:lstStyle/>
          <a:p>
            <a:pPr algn="ctr"/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Cleaned LMS Loan Daily tables</a:t>
            </a:r>
            <a:endParaRPr lang="en-US" sz="800" dirty="0"/>
          </a:p>
        </p:txBody>
      </p:sp>
      <p:sp>
        <p:nvSpPr>
          <p:cNvPr id="190" name="Shape 7">
            <a:extLst>
              <a:ext uri="{FF2B5EF4-FFF2-40B4-BE49-F238E27FC236}">
                <a16:creationId xmlns:a16="http://schemas.microsoft.com/office/drawing/2014/main" id="{369F5779-C5A8-53F0-198B-EFEC7811BC4E}"/>
              </a:ext>
            </a:extLst>
          </p:cNvPr>
          <p:cNvSpPr/>
          <p:nvPr/>
        </p:nvSpPr>
        <p:spPr>
          <a:xfrm>
            <a:off x="274320" y="2086084"/>
            <a:ext cx="868680" cy="363671"/>
          </a:xfrm>
          <a:prstGeom prst="roundRect">
            <a:avLst>
              <a:gd name="adj" fmla="val 10345"/>
            </a:avLst>
          </a:prstGeom>
          <a:solidFill>
            <a:srgbClr val="1B6CA8"/>
          </a:solidFill>
          <a:ln w="12700">
            <a:solidFill>
              <a:srgbClr val="5BB8F5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Raw Attributes Data</a:t>
            </a:r>
          </a:p>
        </p:txBody>
      </p:sp>
      <p:sp>
        <p:nvSpPr>
          <p:cNvPr id="195" name="Shape 7">
            <a:extLst>
              <a:ext uri="{FF2B5EF4-FFF2-40B4-BE49-F238E27FC236}">
                <a16:creationId xmlns:a16="http://schemas.microsoft.com/office/drawing/2014/main" id="{1D303CAA-9106-CE99-B2D3-AC72E7BC339C}"/>
              </a:ext>
            </a:extLst>
          </p:cNvPr>
          <p:cNvSpPr/>
          <p:nvPr/>
        </p:nvSpPr>
        <p:spPr>
          <a:xfrm>
            <a:off x="255882" y="2530049"/>
            <a:ext cx="868680" cy="363671"/>
          </a:xfrm>
          <a:prstGeom prst="roundRect">
            <a:avLst>
              <a:gd name="adj" fmla="val 10345"/>
            </a:avLst>
          </a:prstGeom>
          <a:solidFill>
            <a:srgbClr val="1B6CA8"/>
          </a:solidFill>
          <a:ln w="12700">
            <a:solidFill>
              <a:srgbClr val="5BB8F5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Raw Financial Data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D1BAE14C-1817-AEA6-7912-5EB4D29B1694}"/>
              </a:ext>
            </a:extLst>
          </p:cNvPr>
          <p:cNvCxnSpPr>
            <a:cxnSpLocks/>
            <a:stCxn id="59" idx="3"/>
            <a:endCxn id="150" idx="1"/>
          </p:cNvCxnSpPr>
          <p:nvPr/>
        </p:nvCxnSpPr>
        <p:spPr>
          <a:xfrm>
            <a:off x="2436988" y="1816005"/>
            <a:ext cx="1289792" cy="443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9B647350-FEAE-3F42-9445-8DBC77A74B6D}"/>
              </a:ext>
            </a:extLst>
          </p:cNvPr>
          <p:cNvCxnSpPr>
            <a:cxnSpLocks/>
            <a:stCxn id="137" idx="3"/>
            <a:endCxn id="151" idx="1"/>
          </p:cNvCxnSpPr>
          <p:nvPr/>
        </p:nvCxnSpPr>
        <p:spPr>
          <a:xfrm>
            <a:off x="2440640" y="2264796"/>
            <a:ext cx="1286140" cy="515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C9B95E3A-CBC2-5C43-EE51-2FC340CC295A}"/>
              </a:ext>
            </a:extLst>
          </p:cNvPr>
          <p:cNvCxnSpPr>
            <a:cxnSpLocks/>
            <a:stCxn id="138" idx="3"/>
            <a:endCxn id="152" idx="1"/>
          </p:cNvCxnSpPr>
          <p:nvPr/>
        </p:nvCxnSpPr>
        <p:spPr>
          <a:xfrm>
            <a:off x="2436510" y="2713587"/>
            <a:ext cx="1283394" cy="5263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959C74AB-2BD5-89AD-4C61-3A60B368F122}"/>
              </a:ext>
            </a:extLst>
          </p:cNvPr>
          <p:cNvCxnSpPr>
            <a:cxnSpLocks/>
            <a:stCxn id="87" idx="3"/>
            <a:endCxn id="154" idx="1"/>
          </p:cNvCxnSpPr>
          <p:nvPr/>
        </p:nvCxnSpPr>
        <p:spPr>
          <a:xfrm>
            <a:off x="2446020" y="4029373"/>
            <a:ext cx="1280760" cy="10593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9C4BBF61-5FD6-CF15-7A79-E7CE274B69ED}"/>
              </a:ext>
            </a:extLst>
          </p:cNvPr>
          <p:cNvCxnSpPr>
            <a:cxnSpLocks/>
            <a:stCxn id="154" idx="3"/>
            <a:endCxn id="153" idx="1"/>
          </p:cNvCxnSpPr>
          <p:nvPr/>
        </p:nvCxnSpPr>
        <p:spPr>
          <a:xfrm flipV="1">
            <a:off x="4810232" y="4039965"/>
            <a:ext cx="1166983" cy="1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DB299B23-958D-672D-E0E2-DE926E58FC26}"/>
              </a:ext>
            </a:extLst>
          </p:cNvPr>
          <p:cNvCxnSpPr>
            <a:cxnSpLocks/>
            <a:stCxn id="152" idx="3"/>
            <a:endCxn id="84" idx="1"/>
          </p:cNvCxnSpPr>
          <p:nvPr/>
        </p:nvCxnSpPr>
        <p:spPr>
          <a:xfrm flipV="1">
            <a:off x="4803356" y="2280879"/>
            <a:ext cx="1167826" cy="437971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F401DCCE-983D-93A2-F486-742A9831368E}"/>
              </a:ext>
            </a:extLst>
          </p:cNvPr>
          <p:cNvCxnSpPr>
            <a:cxnSpLocks/>
            <a:stCxn id="151" idx="3"/>
            <a:endCxn id="84" idx="1"/>
          </p:cNvCxnSpPr>
          <p:nvPr/>
        </p:nvCxnSpPr>
        <p:spPr>
          <a:xfrm>
            <a:off x="4810232" y="2269955"/>
            <a:ext cx="1160950" cy="10924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FFDDDD8E-2C89-67FE-125F-87242A5BCC83}"/>
              </a:ext>
            </a:extLst>
          </p:cNvPr>
          <p:cNvCxnSpPr>
            <a:cxnSpLocks/>
            <a:stCxn id="150" idx="3"/>
            <a:endCxn id="84" idx="1"/>
          </p:cNvCxnSpPr>
          <p:nvPr/>
        </p:nvCxnSpPr>
        <p:spPr>
          <a:xfrm>
            <a:off x="4810232" y="1820437"/>
            <a:ext cx="1160950" cy="460442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C7D08DD7-C08A-2DAE-7645-0D4E3527C93F}"/>
              </a:ext>
            </a:extLst>
          </p:cNvPr>
          <p:cNvGrpSpPr/>
          <p:nvPr/>
        </p:nvGrpSpPr>
        <p:grpSpPr>
          <a:xfrm>
            <a:off x="1882729" y="3041245"/>
            <a:ext cx="745717" cy="766041"/>
            <a:chOff x="7608817" y="3473869"/>
            <a:chExt cx="745717" cy="766041"/>
          </a:xfrm>
        </p:grpSpPr>
        <p:pic>
          <p:nvPicPr>
            <p:cNvPr id="229" name="Picture 228">
              <a:extLst>
                <a:ext uri="{FF2B5EF4-FFF2-40B4-BE49-F238E27FC236}">
                  <a16:creationId xmlns:a16="http://schemas.microsoft.com/office/drawing/2014/main" id="{5198EB44-47AC-C6FE-6A92-BB0F07CBD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7000" b="90000" l="1975" r="18295">
                          <a14:foregroundMark x1="9667" y1="11500" x2="11642" y2="12500"/>
                          <a14:foregroundMark x1="10083" y1="7000" x2="10083" y2="7000"/>
                        </a14:backgroundRemoval>
                      </a14:imgEffect>
                    </a14:imgLayer>
                  </a14:imgProps>
                </a:ext>
              </a:extLst>
            </a:blip>
            <a:srcRect r="79598"/>
            <a:stretch>
              <a:fillRect/>
            </a:stretch>
          </p:blipFill>
          <p:spPr>
            <a:xfrm>
              <a:off x="7643208" y="3473869"/>
              <a:ext cx="698467" cy="711740"/>
            </a:xfrm>
            <a:prstGeom prst="rect">
              <a:avLst/>
            </a:prstGeom>
            <a:solidFill>
              <a:srgbClr val="0F1C3F"/>
            </a:solidFill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EF6B567-1600-083E-F96A-D3BE03F0FE5C}"/>
                </a:ext>
              </a:extLst>
            </p:cNvPr>
            <p:cNvSpPr txBox="1"/>
            <p:nvPr/>
          </p:nvSpPr>
          <p:spPr>
            <a:xfrm>
              <a:off x="7608817" y="3901356"/>
              <a:ext cx="7457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Raw Ingested</a:t>
              </a:r>
            </a:p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Data</a:t>
              </a:r>
            </a:p>
          </p:txBody>
        </p:sp>
      </p:grpSp>
      <p:sp>
        <p:nvSpPr>
          <p:cNvPr id="226" name="Text 5">
            <a:extLst>
              <a:ext uri="{FF2B5EF4-FFF2-40B4-BE49-F238E27FC236}">
                <a16:creationId xmlns:a16="http://schemas.microsoft.com/office/drawing/2014/main" id="{81E2D11E-A475-4AAE-4FA4-F6D38ABDDAF4}"/>
              </a:ext>
            </a:extLst>
          </p:cNvPr>
          <p:cNvSpPr/>
          <p:nvPr/>
        </p:nvSpPr>
        <p:spPr>
          <a:xfrm>
            <a:off x="1583362" y="2900569"/>
            <a:ext cx="589860" cy="231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244C602-F85A-DA5E-4597-10BFE2852908}"/>
              </a:ext>
            </a:extLst>
          </p:cNvPr>
          <p:cNvGrpSpPr/>
          <p:nvPr/>
        </p:nvGrpSpPr>
        <p:grpSpPr>
          <a:xfrm>
            <a:off x="3835098" y="2993360"/>
            <a:ext cx="736902" cy="759039"/>
            <a:chOff x="7591400" y="3593401"/>
            <a:chExt cx="736902" cy="75903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A6D79E2-A86E-DAD5-D126-E8F373A39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500" b="90000" l="39293" r="56237">
                          <a14:foregroundMark x1="47193" y1="9500" x2="47193" y2="9500"/>
                        </a14:backgroundRemoval>
                      </a14:imgEffect>
                    </a14:imgLayer>
                  </a14:imgProps>
                </a:ext>
              </a:extLst>
            </a:blip>
            <a:srcRect l="37275" r="41649"/>
            <a:stretch>
              <a:fillRect/>
            </a:stretch>
          </p:blipFill>
          <p:spPr>
            <a:xfrm>
              <a:off x="7591400" y="3593401"/>
              <a:ext cx="721519" cy="7117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DB77BC-8456-B9A6-9D2F-783EC85AE4D8}"/>
                </a:ext>
              </a:extLst>
            </p:cNvPr>
            <p:cNvSpPr txBox="1"/>
            <p:nvPr/>
          </p:nvSpPr>
          <p:spPr>
            <a:xfrm>
              <a:off x="7600218" y="4013886"/>
              <a:ext cx="7280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Cleaned and </a:t>
              </a:r>
            </a:p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Refined Data</a:t>
              </a:r>
            </a:p>
          </p:txBody>
        </p:sp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A0FC7A06-CBFA-E316-29EA-E2B1438D90A4}"/>
              </a:ext>
            </a:extLst>
          </p:cNvPr>
          <p:cNvSpPr/>
          <p:nvPr/>
        </p:nvSpPr>
        <p:spPr>
          <a:xfrm>
            <a:off x="3462100" y="2907547"/>
            <a:ext cx="589860" cy="231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449141A-9BF1-A1CB-6CB7-796D97A953C3}"/>
              </a:ext>
            </a:extLst>
          </p:cNvPr>
          <p:cNvGrpSpPr/>
          <p:nvPr/>
        </p:nvGrpSpPr>
        <p:grpSpPr>
          <a:xfrm>
            <a:off x="6017469" y="3018356"/>
            <a:ext cx="867545" cy="738145"/>
            <a:chOff x="7722680" y="3720470"/>
            <a:chExt cx="867545" cy="73814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44164AB-70EB-9605-6760-B06B6B532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78836" r="97648">
                          <a14:foregroundMark x1="88773" y1="12000" x2="88773" y2="12000"/>
                        </a14:backgroundRemoval>
                      </a14:imgEffect>
                    </a14:imgLayer>
                  </a14:imgProps>
                </a:ext>
              </a:extLst>
            </a:blip>
            <a:srcRect l="76484"/>
            <a:stretch>
              <a:fillRect/>
            </a:stretch>
          </p:blipFill>
          <p:spPr>
            <a:xfrm>
              <a:off x="7771316" y="3720470"/>
              <a:ext cx="805074" cy="71174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56F349-3AD6-1342-FF3A-81716F7D455A}"/>
                </a:ext>
              </a:extLst>
            </p:cNvPr>
            <p:cNvSpPr txBox="1"/>
            <p:nvPr/>
          </p:nvSpPr>
          <p:spPr>
            <a:xfrm>
              <a:off x="7722680" y="4120061"/>
              <a:ext cx="86754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Aggregated and </a:t>
              </a:r>
            </a:p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ML-Ready Data</a:t>
              </a:r>
            </a:p>
          </p:txBody>
        </p:sp>
      </p:grpSp>
      <p:sp>
        <p:nvSpPr>
          <p:cNvPr id="14" name="Text 5">
            <a:extLst>
              <a:ext uri="{FF2B5EF4-FFF2-40B4-BE49-F238E27FC236}">
                <a16:creationId xmlns:a16="http://schemas.microsoft.com/office/drawing/2014/main" id="{FDBA372A-279B-7E05-14CE-07A3E9B2DA24}"/>
              </a:ext>
            </a:extLst>
          </p:cNvPr>
          <p:cNvSpPr/>
          <p:nvPr/>
        </p:nvSpPr>
        <p:spPr>
          <a:xfrm>
            <a:off x="5735399" y="2895461"/>
            <a:ext cx="589860" cy="231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00" dirty="0">
              <a:solidFill>
                <a:srgbClr val="FFFF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5DC441-CEB5-E3E8-D6AC-DF9E8C7EF4FD}"/>
              </a:ext>
            </a:extLst>
          </p:cNvPr>
          <p:cNvCxnSpPr>
            <a:cxnSpLocks/>
            <a:stCxn id="153" idx="3"/>
            <a:endCxn id="114" idx="1"/>
          </p:cNvCxnSpPr>
          <p:nvPr/>
        </p:nvCxnSpPr>
        <p:spPr>
          <a:xfrm flipV="1">
            <a:off x="6937335" y="2880360"/>
            <a:ext cx="761913" cy="115960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803C37-8693-C4A4-6773-FC3603B43440}"/>
              </a:ext>
            </a:extLst>
          </p:cNvPr>
          <p:cNvCxnSpPr>
            <a:cxnSpLocks/>
            <a:endCxn id="113" idx="1"/>
          </p:cNvCxnSpPr>
          <p:nvPr/>
        </p:nvCxnSpPr>
        <p:spPr>
          <a:xfrm>
            <a:off x="6824557" y="2199974"/>
            <a:ext cx="874691" cy="680386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569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DEEP-DIVE  |  BRONZE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Layer: Raw Data Ingestion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4160520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41605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0632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9842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feature_clickstream.csv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features_attributes.csv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features_financials.csv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1208" y="2423160"/>
            <a:ext cx="39776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478024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5167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4963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6791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rows matching snapshot_date — one partition per source per month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" y="3118104"/>
            <a:ext cx="39776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17296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2039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1912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37413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3 CSVs per snapshot, no transformations — preserves source fidelity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1208" y="3813048"/>
            <a:ext cx="39776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86791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9066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886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406908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bronze_table_features_{clickstream|attributes|financials}_YYYY_MM_DD.csv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1353312"/>
            <a:ext cx="3977640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1353312"/>
            <a:ext cx="397764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13533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Pipeline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1783080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180632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8013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198424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lms_loan_daily.csv containing full loan repayment history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64608" y="2423160"/>
            <a:ext cx="37947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92040" y="2478024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25167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2496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49240" y="267919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rows matching snapshot_date — one partition per month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64608" y="3118104"/>
            <a:ext cx="37947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92040" y="3172968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92040" y="32194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31912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49240" y="337413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1 CSV per snapshot, no transformations — preserves raw loan records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64608" y="3813048"/>
            <a:ext cx="37947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92040" y="3867912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92040" y="39066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349240" y="3886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49240" y="40690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bronze_loan_daily_YYYY_MM_DD.csv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11480" y="45476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preserves raw data with no transformations — acts as the landing zone and audit trail for all source systems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DEEP-DIVE  |  SILVER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Layer: Cleaning &amp;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96924"/>
            <a:ext cx="2029968" cy="168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96924"/>
            <a:ext cx="202996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29692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Types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680972"/>
            <a:ext cx="1935480" cy="121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all columns to desired numerical and categorical types</a:t>
            </a:r>
          </a:p>
          <a:p>
            <a:pPr marL="342900" indent="-342900" algn="just">
              <a:buSzPct val="100000"/>
              <a:buChar char="•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Char char="•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8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FloatType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8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DoubleType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precision after rounding</a:t>
            </a: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8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trim + lowercase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21747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87752" y="1296924"/>
            <a:ext cx="2029968" cy="168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87752" y="1296924"/>
            <a:ext cx="2029968" cy="310896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60904" y="129692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Cleaning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79192" y="1680972"/>
            <a:ext cx="1847088" cy="1303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string ‘XX Year YY Months’ to numerical months</a:t>
            </a:r>
          </a:p>
          <a:p>
            <a:pPr marL="342900" indent="-342900" algn="just">
              <a:buSzPct val="100000"/>
              <a:buChar char="•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Char char="•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invalid characters via regex [^0-9.\-]</a:t>
            </a:r>
          </a:p>
          <a:p>
            <a:pPr algn="just">
              <a:buSzPct val="100000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floats to 2 decimal places for standardization</a:t>
            </a: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64024" y="1296924"/>
            <a:ext cx="2029968" cy="168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64024" y="1296924"/>
            <a:ext cx="2029968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37176" y="129692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🔡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Cleaning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55464" y="1680972"/>
            <a:ext cx="1847088" cy="1303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&amp; trim all strings by removing whitespaces</a:t>
            </a:r>
          </a:p>
          <a:p>
            <a:pPr algn="just">
              <a:buSzPct val="100000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Char char="•"/>
            </a:pPr>
            <a:endParaRPr lang="en-US" sz="85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 algn="just">
              <a:buSzPct val="100000"/>
              <a:buFontTx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null/blank/symbols with '</a:t>
            </a:r>
            <a:r>
              <a:rPr lang="en-US" sz="8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  <a:p>
            <a:pPr marL="342900" indent="-342900" algn="just">
              <a:buSzPct val="100000"/>
              <a:buChar char="•"/>
            </a:pPr>
            <a:r>
              <a:rPr lang="en-US" sz="850" dirty="0"/>
              <a:t>Split unstructured and composite strings into structured features</a:t>
            </a:r>
          </a:p>
        </p:txBody>
      </p:sp>
      <p:sp>
        <p:nvSpPr>
          <p:cNvPr id="23" name="Shape 21"/>
          <p:cNvSpPr/>
          <p:nvPr/>
        </p:nvSpPr>
        <p:spPr>
          <a:xfrm>
            <a:off x="6940296" y="1296924"/>
            <a:ext cx="2029968" cy="168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40296" y="1296924"/>
            <a:ext cx="2029968" cy="3108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13448" y="129692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31736" y="1680972"/>
            <a:ext cx="1847088" cy="1303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as parquet file to ensure fast, scalable access, reproducibility and lineage tracking</a:t>
            </a: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6400" y="3014980"/>
            <a:ext cx="182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Pipeline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06400" y="3200400"/>
            <a:ext cx="2032000" cy="10998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06400" y="3200400"/>
            <a:ext cx="2032000" cy="304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2600" y="3200400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Types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8000" y="3543300"/>
            <a:ext cx="1841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all columns to desired numerical and categorical types</a:t>
            </a:r>
          </a:p>
        </p:txBody>
      </p:sp>
      <p:sp>
        <p:nvSpPr>
          <p:cNvPr id="36" name="Shape 34"/>
          <p:cNvSpPr/>
          <p:nvPr/>
        </p:nvSpPr>
        <p:spPr>
          <a:xfrm>
            <a:off x="2590800" y="3200400"/>
            <a:ext cx="2032000" cy="10998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590800" y="3200400"/>
            <a:ext cx="2032000" cy="304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67000" y="3200400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Augment: MOB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79700" y="3543300"/>
            <a:ext cx="1841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Months on Book (MOB) column to track loan lifecycle age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679700" y="4013200"/>
            <a:ext cx="1841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62500" y="3200400"/>
            <a:ext cx="2032000" cy="10998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62500" y="3200400"/>
            <a:ext cx="2032000" cy="304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38700" y="3200400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Augment: DPD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934200" y="3200400"/>
            <a:ext cx="2032000" cy="10998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6934200" y="3200400"/>
            <a:ext cx="2032000" cy="304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010400" y="3200400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035800" y="3543300"/>
            <a:ext cx="1841500" cy="70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as parquet file to ensure fast, scalable access, reproducibility and lineage tracking</a:t>
            </a:r>
            <a:endParaRPr lang="en-US" sz="850" dirty="0"/>
          </a:p>
          <a:p>
            <a:pPr marL="342900" indent="-342900" algn="just">
              <a:buSzPct val="100000"/>
              <a:buChar char="•"/>
            </a:pP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06400" y="439166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decision: Tables remain separate at Silver. Tables join is performed at Gold to preserve domain independence and allow targeted reprocessing.</a:t>
            </a:r>
            <a:endParaRPr lang="en-US" sz="750" dirty="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E1AC3630-C5C8-0C9B-C83C-FB40C9491343}"/>
              </a:ext>
            </a:extLst>
          </p:cNvPr>
          <p:cNvSpPr/>
          <p:nvPr/>
        </p:nvSpPr>
        <p:spPr>
          <a:xfrm>
            <a:off x="411480" y="10789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Pipeline</a:t>
            </a:r>
            <a:endParaRPr lang="en-US" sz="9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6" name="Text 37">
            <a:extLst>
              <a:ext uri="{FF2B5EF4-FFF2-40B4-BE49-F238E27FC236}">
                <a16:creationId xmlns:a16="http://schemas.microsoft.com/office/drawing/2014/main" id="{86D3AC20-BF9C-9479-8FB8-4564C11FABF5}"/>
              </a:ext>
            </a:extLst>
          </p:cNvPr>
          <p:cNvSpPr/>
          <p:nvPr/>
        </p:nvSpPr>
        <p:spPr>
          <a:xfrm>
            <a:off x="4857750" y="3543300"/>
            <a:ext cx="18415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Days Past Due (DPD) column by computing days overdue from first missed installment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174678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DEEP-DIVE  |  GOLD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Layer: ML-Ready Feature Store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06400" y="1333500"/>
            <a:ext cx="4064000" cy="327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6400" y="1333500"/>
            <a:ext cx="4064000" cy="304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6400" y="1333500"/>
            <a:ext cx="406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Tables (Gold)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6100" y="1790700"/>
            <a:ext cx="304800" cy="304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6100" y="18288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5200" y="17907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5200" y="19939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multiple tables into a single table for holistic view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8000" y="2273300"/>
            <a:ext cx="38608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6100" y="2362200"/>
            <a:ext cx="304800" cy="304800"/>
          </a:xfrm>
          <a:prstGeom prst="ellipse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6100" y="24003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✂️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5200" y="23622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Clamp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5200" y="25654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noise from outliers – reduces model bias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8000" y="2844800"/>
            <a:ext cx="38608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100" y="2921000"/>
            <a:ext cx="304800" cy="304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6100" y="29591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5200" y="29210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5200" y="31242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data to enable ML algorithm to process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8000" y="3416300"/>
            <a:ext cx="38608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6100" y="3492500"/>
            <a:ext cx="304800" cy="304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6100" y="35306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⚙️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5200" y="34925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5200" y="36957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new meaningful features, e.g. debt-to-income,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-to-salary to derive more data interpretability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8000" y="3975100"/>
            <a:ext cx="38608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6100" y="4064000"/>
            <a:ext cx="304800" cy="3048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6100" y="41021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🗑️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5200" y="40640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Prune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5200" y="42672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columns with high multicollinearity, e.g., raw columns used for new features to minimize model overfitting during training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73600" y="1333500"/>
            <a:ext cx="4064000" cy="327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73600" y="1333500"/>
            <a:ext cx="4064000" cy="304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73600" y="1333500"/>
            <a:ext cx="406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Table (Gold)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1790700"/>
            <a:ext cx="304800" cy="3048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18288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32400" y="17907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Silver LMS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32400" y="19939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silver_loan_daily_YYYY_MM_DD.parquet for the target snapshot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37100" y="2273300"/>
            <a:ext cx="3937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0600" y="2362200"/>
            <a:ext cx="304800" cy="304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0600" y="23876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32400" y="23622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at MOB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32400" y="25654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rows where mob = 6 (6 months after loan origination)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37100" y="2844800"/>
            <a:ext cx="3937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00600" y="2921000"/>
            <a:ext cx="304800" cy="3048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00600" y="29591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🏷️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32400" y="29210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Label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32400" y="31242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is_default = 1 if dpd &gt;= 30, else 0. label_def = '30dpd_6mob'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37100" y="3416300"/>
            <a:ext cx="3937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00600" y="3492500"/>
            <a:ext cx="304800" cy="3048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00600" y="35179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232400" y="34925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 Features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32400" y="36957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label store to Gold features on Customer_ID + snapshot_date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37100" y="3975100"/>
            <a:ext cx="3937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800600" y="4064000"/>
            <a:ext cx="304800" cy="3048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00600" y="40894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📤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232400" y="4064000"/>
            <a:ext cx="3403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32400" y="42672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gold_label_store_YYYY_MM_DD.parquet | loan_id, Customer_ID, label, label_def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11480" y="4648200"/>
            <a:ext cx="832104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11480" y="464820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7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gold_features_YYYY_MM_DD.parquet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Labels: gold_label_store_YYYY_MM_DD.parquet  |  is_default (0/1)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76847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Feature Pipeline  | 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2011680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201168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719072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 tables ingested and partitioned by snapshot_date with no transformations.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87752" y="1353312"/>
            <a:ext cx="2011680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87752" y="1353312"/>
            <a:ext cx="2011680" cy="31089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87752" y="13533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719072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cleaned &amp; refined (4 tables). LMS augmented with MOB + DPD columns.</a:t>
            </a:r>
          </a:p>
          <a:p>
            <a:pPr marL="0" indent="0" algn="just"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64024" y="1353312"/>
            <a:ext cx="2011680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64024" y="1353312"/>
            <a:ext cx="20116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64024" y="13533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719072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Joined, outlier-clamped, encoded and feature-engineered to form a ML-ready feature store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0296" y="1353312"/>
            <a:ext cx="2011680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1A306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40296" y="1353312"/>
            <a:ext cx="2011680" cy="3108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0296" y="13533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0024" y="1719072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 labels derived at MOB=6, DPD&gt;=30 — binary value  ‘</a:t>
            </a:r>
            <a:r>
              <a:rPr lang="en-US" sz="90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is_default</a:t>
            </a: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label per customer per snapshot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273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Train credit default prediction model on Gold feature + label store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584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Evaluate model — AUC-ROC, precision-recall, Gini coefficient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895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Integrate pipeline with model training for automated monthly retraining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 model for real-time loan application scoring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42560" y="2880360"/>
            <a:ext cx="969264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42560" y="2944368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242560" y="361188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21552" y="2880360"/>
            <a:ext cx="969264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21552" y="2944368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21552" y="361188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00544" y="2880360"/>
            <a:ext cx="969264" cy="1417320"/>
          </a:xfrm>
          <a:prstGeom prst="rect">
            <a:avLst/>
          </a:prstGeom>
          <a:solidFill>
            <a:srgbClr val="1A306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00544" y="2944368"/>
            <a:ext cx="969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00544" y="361188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features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69762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409CAF-DE28-254A-8F56-0D0619A22E02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69924426-11e0-4acb-ae8e-fcfd7ee2b77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383</TotalTime>
  <Words>1267</Words>
  <Application>Microsoft Macintosh PowerPoint</Application>
  <PresentationFormat>On-screen Show (16:9)</PresentationFormat>
  <Paragraphs>283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Feature Pipeline</dc:title>
  <dc:subject>PptxGenJS Presentation</dc:subject>
  <dc:creator>PptxGenJS</dc:creator>
  <cp:lastModifiedBy>Benny TEO Kok Xin</cp:lastModifiedBy>
  <cp:revision>44</cp:revision>
  <dcterms:created xsi:type="dcterms:W3CDTF">2026-05-02T15:09:15Z</dcterms:created>
  <dcterms:modified xsi:type="dcterms:W3CDTF">2026-05-06T14:38:00Z</dcterms:modified>
</cp:coreProperties>
</file>